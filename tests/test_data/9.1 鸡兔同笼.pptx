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</p:sldMasterIdLst>
  <p:notesMasterIdLst>
    <p:notesMasterId r:id="rId21"/>
  </p:notesMasterIdLst>
  <p:sldIdLst>
    <p:sldId id="256" r:id="rId3"/>
    <p:sldId id="264" r:id="rId4"/>
    <p:sldId id="257" r:id="rId5"/>
    <p:sldId id="282" r:id="rId6"/>
    <p:sldId id="283" r:id="rId7"/>
    <p:sldId id="260" r:id="rId8"/>
    <p:sldId id="276" r:id="rId9"/>
    <p:sldId id="274" r:id="rId10"/>
    <p:sldId id="277" r:id="rId11"/>
    <p:sldId id="273" r:id="rId12"/>
    <p:sldId id="267" r:id="rId13"/>
    <p:sldId id="278" r:id="rId14"/>
    <p:sldId id="279" r:id="rId15"/>
    <p:sldId id="288" r:id="rId16"/>
    <p:sldId id="259" r:id="rId17"/>
    <p:sldId id="286" r:id="rId18"/>
    <p:sldId id="287" r:id="rId19"/>
    <p:sldId id="289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0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30" d="100"/>
          <a:sy n="130" d="100"/>
        </p:scale>
        <p:origin x="-1074" y="-4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D225B-188F-408E-A371-8130AAA0F0C3}" type="datetimeFigureOut">
              <a:rPr lang="zh-CN" altLang="en-US" smtClean="0"/>
              <a:pPr/>
              <a:t>2024/2/7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5CDC2-1E64-41A1-8075-9DF5690D4BF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2">
            <a:extLst>
              <a:ext uri="{FF2B5EF4-FFF2-40B4-BE49-F238E27FC236}">
                <a16:creationId xmlns:a16="http://schemas.microsoft.com/office/drawing/2014/main" xmlns="" id="{DBF6767F-67B4-449B-AC8E-5C7D7423C56C}"/>
              </a:ext>
            </a:extLst>
          </p:cNvPr>
          <p:cNvSpPr txBox="1"/>
          <p:nvPr userDrawn="1"/>
        </p:nvSpPr>
        <p:spPr>
          <a:xfrm>
            <a:off x="311304" y="95357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黑体" panose="02010600030101010101" pitchFamily="49" charset="-122"/>
                <a:ea typeface="黑体" panose="02010600030101010101" pitchFamily="49" charset="-122"/>
              </a:rPr>
              <a:t>人教版  数学  </a:t>
            </a:r>
            <a:r>
              <a:rPr kumimoji="1" lang="zh-CN" altLang="en-US" sz="1200" dirty="0" smtClean="0">
                <a:latin typeface="黑体" panose="02010600030101010101" pitchFamily="49" charset="-122"/>
                <a:ea typeface="黑体" panose="02010600030101010101" pitchFamily="49" charset="-122"/>
              </a:rPr>
              <a:t>四年</a:t>
            </a:r>
            <a:r>
              <a:rPr kumimoji="1" lang="zh-CN" altLang="en-US" sz="1200" dirty="0">
                <a:latin typeface="黑体" panose="02010600030101010101" pitchFamily="49" charset="-122"/>
                <a:ea typeface="黑体" panose="02010600030101010101" pitchFamily="49" charset="-122"/>
              </a:rPr>
              <a:t>级  下册</a:t>
            </a:r>
          </a:p>
        </p:txBody>
      </p:sp>
      <p:cxnSp>
        <p:nvCxnSpPr>
          <p:cNvPr id="7" name="直线连接符 4">
            <a:extLst>
              <a:ext uri="{FF2B5EF4-FFF2-40B4-BE49-F238E27FC236}">
                <a16:creationId xmlns:a16="http://schemas.microsoft.com/office/drawing/2014/main" xmlns="" id="{0865FAD3-4D10-4B84-8F4E-0CD39266C7E4}"/>
              </a:ext>
            </a:extLst>
          </p:cNvPr>
          <p:cNvCxnSpPr/>
          <p:nvPr userDrawn="1"/>
        </p:nvCxnSpPr>
        <p:spPr>
          <a:xfrm flipV="1">
            <a:off x="231783" y="375197"/>
            <a:ext cx="2396001" cy="19248"/>
          </a:xfrm>
          <a:prstGeom prst="line">
            <a:avLst/>
          </a:prstGeom>
          <a:ln w="15875" cmpd="sng">
            <a:gradFill flip="none" rotWithShape="1">
              <a:gsLst>
                <a:gs pos="10000">
                  <a:schemeClr val="accent1">
                    <a:lumMod val="0"/>
                    <a:lumOff val="100000"/>
                  </a:schemeClr>
                </a:gs>
                <a:gs pos="65000">
                  <a:schemeClr val="accent1">
                    <a:lumMod val="10000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4"/>
          <p:cNvCxnSpPr/>
          <p:nvPr userDrawn="1"/>
        </p:nvCxnSpPr>
        <p:spPr>
          <a:xfrm flipV="1">
            <a:off x="229067" y="380645"/>
            <a:ext cx="2396001" cy="0"/>
          </a:xfrm>
          <a:prstGeom prst="line">
            <a:avLst/>
          </a:prstGeom>
          <a:noFill/>
          <a:ln w="15875" cap="flat" cmpd="sng" algn="ctr">
            <a:gradFill flip="none" rotWithShape="1">
              <a:gsLst>
                <a:gs pos="10000">
                  <a:srgbClr val="4472C4">
                    <a:lumMod val="0"/>
                    <a:lumOff val="100000"/>
                  </a:srgbClr>
                </a:gs>
                <a:gs pos="65000">
                  <a:srgbClr val="4472C4">
                    <a:lumMod val="100000"/>
                  </a:srgbClr>
                </a:gs>
              </a:gsLst>
              <a:lin ang="10800000" scaled="0"/>
              <a:tileRect/>
            </a:gradFill>
            <a:prstDash val="solid"/>
            <a:miter lim="800000"/>
          </a:ln>
          <a:effectLst/>
        </p:spPr>
      </p:cxnSp>
      <p:pic>
        <p:nvPicPr>
          <p:cNvPr id="15" name="图片 14" descr="底图2.png">
            <a:extLst>
              <a:ext uri="{FF2B5EF4-FFF2-40B4-BE49-F238E27FC236}">
                <a16:creationId xmlns:a16="http://schemas.microsoft.com/office/drawing/2014/main" xmlns="" id="{603C70D2-E6EE-4F81-A1A5-9DE152D505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59999"/>
            <a:ext cx="9144000" cy="58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9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底图2.png">
            <a:extLst>
              <a:ext uri="{FF2B5EF4-FFF2-40B4-BE49-F238E27FC236}">
                <a16:creationId xmlns:a16="http://schemas.microsoft.com/office/drawing/2014/main" xmlns="" id="{603C70D2-E6EE-4F81-A1A5-9DE152D505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59999"/>
            <a:ext cx="9144000" cy="58826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D22185CA-A1E4-48D9-8CC9-18B07D5020A2}"/>
              </a:ext>
            </a:extLst>
          </p:cNvPr>
          <p:cNvGrpSpPr/>
          <p:nvPr userDrawn="1"/>
        </p:nvGrpSpPr>
        <p:grpSpPr>
          <a:xfrm>
            <a:off x="-252536" y="9623"/>
            <a:ext cx="3240360" cy="692300"/>
            <a:chOff x="-252536" y="9623"/>
            <a:chExt cx="3240360" cy="692300"/>
          </a:xfrm>
        </p:grpSpPr>
        <p:sp>
          <p:nvSpPr>
            <p:cNvPr id="7" name="文本框 14">
              <a:extLst>
                <a:ext uri="{FF2B5EF4-FFF2-40B4-BE49-F238E27FC236}">
                  <a16:creationId xmlns:a16="http://schemas.microsoft.com/office/drawing/2014/main" xmlns="" id="{44E779EB-1F22-48A0-88AB-167E4D55494F}"/>
                </a:ext>
              </a:extLst>
            </p:cNvPr>
            <p:cNvSpPr txBox="1"/>
            <p:nvPr userDrawn="1"/>
          </p:nvSpPr>
          <p:spPr>
            <a:xfrm>
              <a:off x="455780" y="9623"/>
              <a:ext cx="1847212" cy="500137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宋体"/>
                  <a:ea typeface="宋体"/>
                </a:rPr>
                <a:t>情境导入</a:t>
              </a:r>
            </a:p>
          </p:txBody>
        </p:sp>
        <p:pic>
          <p:nvPicPr>
            <p:cNvPr id="8" name="图片 7" descr="未标题-1.png">
              <a:extLst>
                <a:ext uri="{FF2B5EF4-FFF2-40B4-BE49-F238E27FC236}">
                  <a16:creationId xmlns:a16="http://schemas.microsoft.com/office/drawing/2014/main" xmlns="" id="{D7E7AC7B-1F2F-4452-978E-7D4F1CB75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52536" y="67567"/>
              <a:ext cx="3240360" cy="634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3840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底图2.png">
            <a:extLst>
              <a:ext uri="{FF2B5EF4-FFF2-40B4-BE49-F238E27FC236}">
                <a16:creationId xmlns:a16="http://schemas.microsoft.com/office/drawing/2014/main" xmlns="" id="{C8E82B67-D02C-4713-A709-A6712D2B75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59999"/>
            <a:ext cx="9144000" cy="58826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55B9DF55-7773-44E3-90F5-E6D6DE66154F}"/>
              </a:ext>
            </a:extLst>
          </p:cNvPr>
          <p:cNvGrpSpPr/>
          <p:nvPr userDrawn="1"/>
        </p:nvGrpSpPr>
        <p:grpSpPr>
          <a:xfrm>
            <a:off x="-252536" y="0"/>
            <a:ext cx="3274666" cy="694923"/>
            <a:chOff x="-252536" y="0"/>
            <a:chExt cx="3274666" cy="694923"/>
          </a:xfrm>
        </p:grpSpPr>
        <p:sp>
          <p:nvSpPr>
            <p:cNvPr id="11" name="文本框 14">
              <a:extLst>
                <a:ext uri="{FF2B5EF4-FFF2-40B4-BE49-F238E27FC236}">
                  <a16:creationId xmlns:a16="http://schemas.microsoft.com/office/drawing/2014/main" xmlns="" id="{3E8E7D07-DAF9-49FF-88BE-487251052494}"/>
                </a:ext>
              </a:extLst>
            </p:cNvPr>
            <p:cNvSpPr txBox="1"/>
            <p:nvPr userDrawn="1"/>
          </p:nvSpPr>
          <p:spPr>
            <a:xfrm>
              <a:off x="467544" y="0"/>
              <a:ext cx="1847212" cy="500137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宋体"/>
                  <a:ea typeface="宋体"/>
                </a:rPr>
                <a:t>探究新知</a:t>
              </a:r>
            </a:p>
          </p:txBody>
        </p:sp>
        <p:pic>
          <p:nvPicPr>
            <p:cNvPr id="12" name="图片 11" descr="未标题-1.png">
              <a:extLst>
                <a:ext uri="{FF2B5EF4-FFF2-40B4-BE49-F238E27FC236}">
                  <a16:creationId xmlns:a16="http://schemas.microsoft.com/office/drawing/2014/main" xmlns="" id="{7CCBE46B-A91B-47AE-884B-313288CE3E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52536" y="53851"/>
              <a:ext cx="3274666" cy="641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7874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底图2.png">
            <a:extLst>
              <a:ext uri="{FF2B5EF4-FFF2-40B4-BE49-F238E27FC236}">
                <a16:creationId xmlns:a16="http://schemas.microsoft.com/office/drawing/2014/main" xmlns="" id="{33C2FD80-7F3B-47FA-B613-9F4E8BB3E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59999"/>
            <a:ext cx="9144000" cy="58826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211592C-5BE7-4137-AF3B-B5A4C22DCFBE}"/>
              </a:ext>
            </a:extLst>
          </p:cNvPr>
          <p:cNvGrpSpPr/>
          <p:nvPr userDrawn="1"/>
        </p:nvGrpSpPr>
        <p:grpSpPr>
          <a:xfrm>
            <a:off x="-240896" y="22840"/>
            <a:ext cx="3264092" cy="679083"/>
            <a:chOff x="-240896" y="22840"/>
            <a:chExt cx="3264092" cy="679083"/>
          </a:xfrm>
        </p:grpSpPr>
        <p:sp>
          <p:nvSpPr>
            <p:cNvPr id="9" name="文本框 14">
              <a:extLst>
                <a:ext uri="{FF2B5EF4-FFF2-40B4-BE49-F238E27FC236}">
                  <a16:creationId xmlns:a16="http://schemas.microsoft.com/office/drawing/2014/main" xmlns="" id="{9989284F-B94F-4989-95FF-5945475F5CD9}"/>
                </a:ext>
              </a:extLst>
            </p:cNvPr>
            <p:cNvSpPr txBox="1"/>
            <p:nvPr userDrawn="1"/>
          </p:nvSpPr>
          <p:spPr>
            <a:xfrm>
              <a:off x="467544" y="22840"/>
              <a:ext cx="1847212" cy="500137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宋体"/>
                  <a:ea typeface="宋体"/>
                </a:rPr>
                <a:t>课堂练习</a:t>
              </a:r>
            </a:p>
          </p:txBody>
        </p:sp>
        <p:pic>
          <p:nvPicPr>
            <p:cNvPr id="11" name="图片 10" descr="未标题-1.png">
              <a:extLst>
                <a:ext uri="{FF2B5EF4-FFF2-40B4-BE49-F238E27FC236}">
                  <a16:creationId xmlns:a16="http://schemas.microsoft.com/office/drawing/2014/main" xmlns="" id="{C69D06BF-94B8-4707-B76B-CE250696B5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40896" y="62921"/>
              <a:ext cx="3264092" cy="6390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748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底图2.png">
            <a:extLst>
              <a:ext uri="{FF2B5EF4-FFF2-40B4-BE49-F238E27FC236}">
                <a16:creationId xmlns:a16="http://schemas.microsoft.com/office/drawing/2014/main" xmlns="" id="{11F63132-7D9F-49C8-B8B7-D652E682D6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59999"/>
            <a:ext cx="9144000" cy="588264"/>
          </a:xfrm>
          <a:prstGeom prst="rect">
            <a:avLst/>
          </a:prstGeom>
        </p:spPr>
      </p:pic>
      <p:sp>
        <p:nvSpPr>
          <p:cNvPr id="7" name="文本框 14">
            <a:extLst>
              <a:ext uri="{FF2B5EF4-FFF2-40B4-BE49-F238E27FC236}">
                <a16:creationId xmlns:a16="http://schemas.microsoft.com/office/drawing/2014/main" xmlns="" id="{ABA790D8-9491-4365-ABE9-8129549A9E78}"/>
              </a:ext>
            </a:extLst>
          </p:cNvPr>
          <p:cNvSpPr txBox="1"/>
          <p:nvPr userDrawn="1"/>
        </p:nvSpPr>
        <p:spPr>
          <a:xfrm>
            <a:off x="452876" y="9623"/>
            <a:ext cx="184721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宋体"/>
                <a:ea typeface="宋体"/>
              </a:rPr>
              <a:t>课堂小结</a:t>
            </a:r>
          </a:p>
        </p:txBody>
      </p:sp>
      <p:pic>
        <p:nvPicPr>
          <p:cNvPr id="8" name="图片 7" descr="未标题-1.png">
            <a:extLst>
              <a:ext uri="{FF2B5EF4-FFF2-40B4-BE49-F238E27FC236}">
                <a16:creationId xmlns:a16="http://schemas.microsoft.com/office/drawing/2014/main" xmlns="" id="{4BFC674E-DF2F-4CB2-81CE-5AF6333380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2536" y="62921"/>
            <a:ext cx="3264091" cy="63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底图2.png">
            <a:extLst>
              <a:ext uri="{FF2B5EF4-FFF2-40B4-BE49-F238E27FC236}">
                <a16:creationId xmlns:a16="http://schemas.microsoft.com/office/drawing/2014/main" xmlns="" id="{0833DDC6-5A6E-4E9D-8FE1-DFEAF09236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59999"/>
            <a:ext cx="9144000" cy="58826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B12A02B4-96B9-4F38-8727-DEE9BC2C3D4C}"/>
              </a:ext>
            </a:extLst>
          </p:cNvPr>
          <p:cNvGrpSpPr/>
          <p:nvPr userDrawn="1"/>
        </p:nvGrpSpPr>
        <p:grpSpPr>
          <a:xfrm>
            <a:off x="-252536" y="9623"/>
            <a:ext cx="3240360" cy="692300"/>
            <a:chOff x="-252536" y="9623"/>
            <a:chExt cx="3240360" cy="692300"/>
          </a:xfrm>
        </p:grpSpPr>
        <p:pic>
          <p:nvPicPr>
            <p:cNvPr id="12" name="图片 11" descr="未标题-1.png">
              <a:extLst>
                <a:ext uri="{FF2B5EF4-FFF2-40B4-BE49-F238E27FC236}">
                  <a16:creationId xmlns:a16="http://schemas.microsoft.com/office/drawing/2014/main" xmlns="" id="{7DD69861-7098-49A1-9766-9A1AFFBFB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52536" y="67566"/>
              <a:ext cx="3240360" cy="634357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1AA9139E-C4E2-462C-A6AC-806507955D52}"/>
                </a:ext>
              </a:extLst>
            </p:cNvPr>
            <p:cNvSpPr txBox="1"/>
            <p:nvPr userDrawn="1"/>
          </p:nvSpPr>
          <p:spPr>
            <a:xfrm>
              <a:off x="452876" y="9623"/>
              <a:ext cx="1847212" cy="500137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宋体"/>
                  <a:ea typeface="宋体"/>
                </a:rPr>
                <a:t>课后作业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6583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E4B6D921-5469-4B69-A447-9E6AB03C87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54618">
            <a:off x="7567239" y="494503"/>
            <a:ext cx="722742" cy="9433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8BC23C19-49C0-4E79-AD6A-DDD475D1B1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484629">
            <a:off x="7223546" y="1124885"/>
            <a:ext cx="456460" cy="59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0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9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2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72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90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819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141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29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835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497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36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95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42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  <p:sldLayoutId id="2147483665" r:id="rId5"/>
    <p:sldLayoutId id="2147483666" r:id="rId6"/>
    <p:sldLayoutId id="2147483667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2024/2/7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61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0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86705BF0-C50E-4539-AB1A-02A986F74A2A}"/>
              </a:ext>
            </a:extLst>
          </p:cNvPr>
          <p:cNvSpPr/>
          <p:nvPr/>
        </p:nvSpPr>
        <p:spPr>
          <a:xfrm>
            <a:off x="4067944" y="563637"/>
            <a:ext cx="3491880" cy="424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D5BBA8B-BA0A-4AC0-98FD-19847CF7E065}"/>
              </a:ext>
            </a:extLst>
          </p:cNvPr>
          <p:cNvSpPr/>
          <p:nvPr/>
        </p:nvSpPr>
        <p:spPr>
          <a:xfrm>
            <a:off x="2725359" y="1915471"/>
            <a:ext cx="3536866" cy="1084912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鸡兔同笼</a:t>
            </a:r>
            <a:endParaRPr lang="zh-CN" altLang="en-US" sz="6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306DBB39-AF9F-4091-85D9-C3E4628D224D}"/>
              </a:ext>
            </a:extLst>
          </p:cNvPr>
          <p:cNvSpPr/>
          <p:nvPr/>
        </p:nvSpPr>
        <p:spPr>
          <a:xfrm>
            <a:off x="912693" y="519703"/>
            <a:ext cx="5250112" cy="68389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 smtClean="0">
                <a:solidFill>
                  <a:srgbClr val="0050AA"/>
                </a:solidFill>
                <a:latin typeface="+mj-ea"/>
                <a:ea typeface="+mj-ea"/>
              </a:rPr>
              <a:t>数学广角</a:t>
            </a:r>
            <a:r>
              <a:rPr lang="en-US" altLang="zh-CN" sz="4000" b="1" dirty="0" smtClean="0">
                <a:solidFill>
                  <a:srgbClr val="0050AA"/>
                </a:solidFill>
                <a:latin typeface="+mj-ea"/>
                <a:ea typeface="+mj-ea"/>
              </a:rPr>
              <a:t>—</a:t>
            </a:r>
            <a:r>
              <a:rPr lang="zh-CN" altLang="en-US" sz="4000" b="1" dirty="0" smtClean="0">
                <a:solidFill>
                  <a:srgbClr val="0050AA"/>
                </a:solidFill>
                <a:latin typeface="+mj-ea"/>
                <a:ea typeface="+mj-ea"/>
              </a:rPr>
              <a:t>鸡兔同笼</a:t>
            </a:r>
            <a:endParaRPr lang="zh-CN" altLang="en-US" sz="4000" b="1" dirty="0">
              <a:solidFill>
                <a:srgbClr val="0050AA"/>
              </a:solidFill>
              <a:latin typeface="+mj-ea"/>
              <a:ea typeface="+mj-ea"/>
            </a:endParaRPr>
          </a:p>
        </p:txBody>
      </p:sp>
      <p:grpSp>
        <p:nvGrpSpPr>
          <p:cNvPr id="5" name="组合 26">
            <a:extLst>
              <a:ext uri="{FF2B5EF4-FFF2-40B4-BE49-F238E27FC236}">
                <a16:creationId xmlns:a16="http://schemas.microsoft.com/office/drawing/2014/main" xmlns="" id="{DDC7039B-5419-476F-945A-FC6C39BE9E88}"/>
              </a:ext>
            </a:extLst>
          </p:cNvPr>
          <p:cNvGrpSpPr/>
          <p:nvPr/>
        </p:nvGrpSpPr>
        <p:grpSpPr>
          <a:xfrm>
            <a:off x="231783" y="506404"/>
            <a:ext cx="654821" cy="672070"/>
            <a:chOff x="1306635" y="1416347"/>
            <a:chExt cx="654821" cy="67207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xmlns="" id="{B01CC896-B42D-4BC6-AE9D-6BDC4E72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06635" y="1440417"/>
              <a:ext cx="654821" cy="648000"/>
            </a:xfrm>
            <a:prstGeom prst="rect">
              <a:avLst/>
            </a:prstGeom>
          </p:spPr>
        </p:pic>
        <p:sp>
          <p:nvSpPr>
            <p:cNvPr id="7" name="文本框 10">
              <a:extLst>
                <a:ext uri="{FF2B5EF4-FFF2-40B4-BE49-F238E27FC236}">
                  <a16:creationId xmlns:a16="http://schemas.microsoft.com/office/drawing/2014/main" xmlns="" id="{C935462D-E4D5-40E2-B011-48DEB80DABC7}"/>
                </a:ext>
              </a:extLst>
            </p:cNvPr>
            <p:cNvSpPr txBox="1"/>
            <p:nvPr/>
          </p:nvSpPr>
          <p:spPr>
            <a:xfrm>
              <a:off x="1430458" y="1416347"/>
              <a:ext cx="410690" cy="630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500" b="1" dirty="0" smtClean="0">
                  <a:solidFill>
                    <a:srgbClr val="0050AA"/>
                  </a:solidFill>
                  <a:latin typeface="+mj-ea"/>
                  <a:ea typeface="+mj-ea"/>
                </a:rPr>
                <a:t>9</a:t>
              </a:r>
              <a:endParaRPr kumimoji="1" lang="zh-CN" altLang="en-US" sz="3500" b="1" dirty="0">
                <a:solidFill>
                  <a:srgbClr val="0050AA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0" y="4078555"/>
            <a:ext cx="9144000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-WWW.1PPT.COM</a:t>
            </a:r>
            <a:endParaRPr lang="en-US" altLang="zh-CN" sz="20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77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DC29966E-B77F-44E3-8898-89BA08B45E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03418" y="758179"/>
            <a:ext cx="7971837" cy="95410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zh-CN" altLang="en-US" b="1" dirty="0" smtClean="0">
                <a:latin typeface="Script"/>
                <a:ea typeface="楷体" panose="02010609060101010101" pitchFamily="49" charset="-122"/>
              </a:rPr>
              <a:t>    我国</a:t>
            </a:r>
            <a:r>
              <a:rPr lang="zh-CN" altLang="en-US" b="1" dirty="0">
                <a:latin typeface="Script"/>
                <a:ea typeface="楷体" panose="02010609060101010101" pitchFamily="49" charset="-122"/>
              </a:rPr>
              <a:t>古代数学名著</a:t>
            </a:r>
            <a:r>
              <a:rPr lang="en-US" altLang="zh-CN" b="1" dirty="0">
                <a:latin typeface="Script"/>
                <a:ea typeface="楷体" panose="02010609060101010101" pitchFamily="49" charset="-122"/>
              </a:rPr>
              <a:t>《</a:t>
            </a:r>
            <a:r>
              <a:rPr lang="zh-CN" altLang="en-US" b="1" dirty="0">
                <a:latin typeface="Script"/>
                <a:ea typeface="楷体" panose="02010609060101010101" pitchFamily="49" charset="-122"/>
              </a:rPr>
              <a:t>孙子算经</a:t>
            </a:r>
            <a:r>
              <a:rPr lang="en-US" altLang="zh-CN" b="1" dirty="0">
                <a:latin typeface="Script"/>
                <a:ea typeface="楷体" panose="02010609060101010101" pitchFamily="49" charset="-122"/>
              </a:rPr>
              <a:t>》</a:t>
            </a:r>
            <a:r>
              <a:rPr lang="zh-CN" altLang="en-US" b="1" dirty="0">
                <a:latin typeface="Script"/>
                <a:ea typeface="楷体" panose="02010609060101010101" pitchFamily="49" charset="-122"/>
              </a:rPr>
              <a:t>中记载了一道数学</a:t>
            </a:r>
            <a:r>
              <a:rPr lang="zh-CN" altLang="en-US" b="1" dirty="0" smtClean="0">
                <a:latin typeface="Script"/>
                <a:ea typeface="楷体" panose="02010609060101010101" pitchFamily="49" charset="-122"/>
              </a:rPr>
              <a:t>趣题</a:t>
            </a:r>
            <a:r>
              <a:rPr lang="en-US" altLang="zh-CN" b="1" dirty="0">
                <a:latin typeface="Script"/>
                <a:ea typeface="楷体" panose="02010609060101010101" pitchFamily="49" charset="-122"/>
              </a:rPr>
              <a:t>——</a:t>
            </a:r>
            <a:r>
              <a:rPr lang="zh-CN" altLang="en-US" b="1" dirty="0" smtClean="0">
                <a:latin typeface="Script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latin typeface="Script"/>
                <a:ea typeface="楷体" panose="02010609060101010101" pitchFamily="49" charset="-122"/>
              </a:rPr>
              <a:t>鸡兔同笼”问题。</a:t>
            </a:r>
            <a:endParaRPr lang="en-US" altLang="zh-CN" b="1" dirty="0">
              <a:latin typeface="Script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8667" y="1851079"/>
            <a:ext cx="5584420" cy="17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3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734148" y="3503603"/>
            <a:ext cx="3592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从上面数，有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35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个头，</a:t>
            </a:r>
            <a:endParaRPr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C29966E-B77F-44E3-8898-89BA08B45E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88944" y="2769652"/>
            <a:ext cx="3505340" cy="52322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zh-CN" altLang="en-US" b="1" dirty="0" smtClean="0">
                <a:latin typeface="Script"/>
                <a:ea typeface="楷体" panose="02010609060101010101" pitchFamily="49" charset="-122"/>
              </a:rPr>
              <a:t>这道题的意思就是</a:t>
            </a:r>
            <a:r>
              <a:rPr lang="en-US" altLang="zh-CN" b="1" dirty="0" smtClean="0">
                <a:latin typeface="Script"/>
                <a:ea typeface="楷体" panose="02010609060101010101" pitchFamily="49" charset="-122"/>
              </a:rPr>
              <a:t>:</a:t>
            </a:r>
            <a:endParaRPr lang="en-US" altLang="zh-CN" b="1" dirty="0"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05872" y="3469453"/>
            <a:ext cx="7634121" cy="116329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笼子里有若干只鸡和兔。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882339" y="4043007"/>
            <a:ext cx="36168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下面数，有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94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只脚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499172" y="4043007"/>
            <a:ext cx="30180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鸡和兔各有几只？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5897" y="3899578"/>
            <a:ext cx="682696" cy="101185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0722" y="612990"/>
            <a:ext cx="5584420" cy="17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3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" y="621188"/>
            <a:ext cx="84473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想一想</a:t>
            </a:r>
            <a:r>
              <a:rPr lang="en-US" altLang="zh-CN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请你猜一猜，大概有多少只鸡，多少只兔？</a:t>
            </a:r>
            <a:endParaRPr lang="zh-CN" altLang="en-US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5323415" y="1886560"/>
            <a:ext cx="1268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3369217" y="1886560"/>
            <a:ext cx="1268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5025" y="1886560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20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只</a:t>
            </a:r>
            <a:r>
              <a:rPr lang="zh-CN" altLang="en-US" sz="2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鸡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15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只</a:t>
            </a:r>
            <a:r>
              <a:rPr lang="zh-CN" altLang="en-US" sz="2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兔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4765532" y="1886560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6662064" y="1886560"/>
            <a:ext cx="19928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  100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9996" y="1671124"/>
            <a:ext cx="907926" cy="954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5317559" y="2856616"/>
            <a:ext cx="1268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3363361" y="2856616"/>
            <a:ext cx="1268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99169" y="2856616"/>
            <a:ext cx="25314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30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只</a:t>
            </a:r>
            <a:r>
              <a:rPr lang="zh-CN" altLang="en-US" sz="2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鸡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只</a:t>
            </a:r>
            <a:r>
              <a:rPr lang="zh-CN" altLang="en-US" sz="2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兔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4759676" y="2856616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6656208" y="2856616"/>
            <a:ext cx="1811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  80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0949" y="2641180"/>
            <a:ext cx="907926" cy="954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3712740" y="3620555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81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0" grpId="0"/>
      <p:bldP spid="4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52" y="621188"/>
            <a:ext cx="84473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说一说</a:t>
            </a:r>
            <a:r>
              <a:rPr lang="en-US" altLang="zh-CN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你猜到正确答案了吗？</a:t>
            </a:r>
            <a:endParaRPr lang="zh-CN" altLang="en-US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5347908" y="1904772"/>
            <a:ext cx="1268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3393710" y="1904772"/>
            <a:ext cx="1268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9518" y="1904772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20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只</a:t>
            </a:r>
            <a:r>
              <a:rPr lang="zh-CN" altLang="en-US" sz="2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鸡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15</a:t>
            </a:r>
            <a:r>
              <a:rPr lang="zh-CN" altLang="en-US" sz="2800" b="1" dirty="0" smtClean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只</a:t>
            </a:r>
            <a:r>
              <a:rPr lang="zh-CN" altLang="en-US" sz="2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兔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4790025" y="1904772"/>
            <a:ext cx="365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6686557" y="1904772"/>
            <a:ext cx="19928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  100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84489" y="1689336"/>
            <a:ext cx="907926" cy="954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52" y="629335"/>
            <a:ext cx="985586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                          你能想到一些比较好</a:t>
            </a:r>
            <a:endParaRPr lang="en-US" altLang="zh-CN" b="1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的方法吗？</a:t>
            </a:r>
            <a:endParaRPr lang="zh-CN" altLang="en-US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099844" y="2643428"/>
            <a:ext cx="1322150" cy="139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圆角矩形标注 33"/>
          <p:cNvSpPr/>
          <p:nvPr/>
        </p:nvSpPr>
        <p:spPr>
          <a:xfrm>
            <a:off x="3377023" y="2699222"/>
            <a:ext cx="2387359" cy="1295236"/>
          </a:xfrm>
          <a:prstGeom prst="wedgeRoundRectCallout">
            <a:avLst>
              <a:gd name="adj1" fmla="val 60857"/>
              <a:gd name="adj2" fmla="val -22445"/>
              <a:gd name="adj3" fmla="val 1666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可以先从比较简单的数据入手。</a:t>
            </a:r>
            <a:endParaRPr lang="zh-CN" altLang="en-US" sz="28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85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519" y="1170279"/>
            <a:ext cx="751192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笼子里有若干只鸡和兔。从上面数，有</a:t>
            </a: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个头，从下面数，有</a:t>
            </a: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26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只脚。鸡和兔各几只？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" y="555285"/>
            <a:ext cx="75119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说一说</a:t>
            </a:r>
            <a:r>
              <a:rPr lang="en-US" altLang="zh-CN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从题中你了解到哪些信息？</a:t>
            </a:r>
            <a:endParaRPr lang="zh-CN" altLang="en-US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48" b="89950" l="9677" r="95161">
                        <a14:foregroundMark x1="72043" y1="64824" x2="72043" y2="64824"/>
                        <a14:foregroundMark x1="76344" y1="62312" x2="76344" y2="623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9299" y="2893165"/>
            <a:ext cx="849999" cy="1198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35B375A0-3AAE-4E7A-B9B3-811653F908D1}"/>
              </a:ext>
            </a:extLst>
          </p:cNvPr>
          <p:cNvSpPr/>
          <p:nvPr/>
        </p:nvSpPr>
        <p:spPr>
          <a:xfrm>
            <a:off x="1168390" y="2514707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一个头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52647C5-C3B2-437C-BB54-1BAD30F5A648}"/>
              </a:ext>
            </a:extLst>
          </p:cNvPr>
          <p:cNvSpPr/>
          <p:nvPr/>
        </p:nvSpPr>
        <p:spPr>
          <a:xfrm>
            <a:off x="3278791" y="2514707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一个头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C780D294-49D0-4069-AB13-BB2768CFADEE}"/>
              </a:ext>
            </a:extLst>
          </p:cNvPr>
          <p:cNvSpPr/>
          <p:nvPr/>
        </p:nvSpPr>
        <p:spPr>
          <a:xfrm>
            <a:off x="3393591" y="3954091"/>
            <a:ext cx="1087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F2978C5F-FBE7-40FB-8164-086E3F307D06}"/>
              </a:ext>
            </a:extLst>
          </p:cNvPr>
          <p:cNvSpPr/>
          <p:nvPr/>
        </p:nvSpPr>
        <p:spPr>
          <a:xfrm>
            <a:off x="1258157" y="3954091"/>
            <a:ext cx="1087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10ECEC3-64B4-46D5-8209-1F8433CC42CC}"/>
              </a:ext>
            </a:extLst>
          </p:cNvPr>
          <p:cNvSpPr/>
          <p:nvPr/>
        </p:nvSpPr>
        <p:spPr>
          <a:xfrm>
            <a:off x="5192583" y="2513529"/>
            <a:ext cx="1808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头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共有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33C22CFB-344B-4F23-A513-AE6AF7A8D2D8}"/>
              </a:ext>
            </a:extLst>
          </p:cNvPr>
          <p:cNvSpPr/>
          <p:nvPr/>
        </p:nvSpPr>
        <p:spPr>
          <a:xfrm>
            <a:off x="5074217" y="3954091"/>
            <a:ext cx="23503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数是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F0D7988-778A-48C7-802A-76501D41932C}"/>
              </a:ext>
            </a:extLst>
          </p:cNvPr>
          <p:cNvSpPr/>
          <p:nvPr/>
        </p:nvSpPr>
        <p:spPr>
          <a:xfrm>
            <a:off x="5518089" y="3230805"/>
            <a:ext cx="2169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鸡兔各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几只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8953" y="3157212"/>
            <a:ext cx="452323" cy="6704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8D1085DD-96FE-4D2E-A523-0E30DF38193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2032" y="3081648"/>
            <a:ext cx="819405" cy="8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881D2425-148E-4438-A5E2-53B83B6ADD14}"/>
              </a:ext>
            </a:extLst>
          </p:cNvPr>
          <p:cNvSpPr txBox="1"/>
          <p:nvPr/>
        </p:nvSpPr>
        <p:spPr>
          <a:xfrm>
            <a:off x="828983" y="2229098"/>
            <a:ext cx="2983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>
                <a:solidFill>
                  <a:srgbClr val="00B050"/>
                </a:solidFill>
                <a:latin typeface="楷体" pitchFamily="49" charset="-122"/>
              </a:rPr>
              <a:t>方法一：列表法</a:t>
            </a:r>
          </a:p>
        </p:txBody>
      </p:sp>
      <p:graphicFrame>
        <p:nvGraphicFramePr>
          <p:cNvPr id="16" name="Group 114">
            <a:extLst>
              <a:ext uri="{FF2B5EF4-FFF2-40B4-BE49-F238E27FC236}">
                <a16:creationId xmlns:a16="http://schemas.microsoft.com/office/drawing/2014/main" xmlns="" id="{9FE77012-E4D2-40B4-B9B8-CA772872C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706666"/>
              </p:ext>
            </p:extLst>
          </p:nvPr>
        </p:nvGraphicFramePr>
        <p:xfrm>
          <a:off x="1295458" y="2729378"/>
          <a:ext cx="6552725" cy="1426464"/>
        </p:xfrm>
        <a:graphic>
          <a:graphicData uri="http://schemas.openxmlformats.org/drawingml/2006/table">
            <a:tbl>
              <a:tblPr/>
              <a:tblGrid>
                <a:gridCol w="7214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79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79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62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791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959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3214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"/>
                          <a:ea typeface="楷体" panose="02010609060101010101" pitchFamily="49" charset="-122"/>
                        </a:rPr>
                        <a:t>鸡</a:t>
                      </a:r>
                    </a:p>
                  </a:txBody>
                  <a:tcPr marL="51431" marR="51431" marT="0" marB="0" horzOverflow="overflow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14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"/>
                          <a:ea typeface="楷体" panose="02010609060101010101" pitchFamily="49" charset="-122"/>
                        </a:rPr>
                        <a:t>兔</a:t>
                      </a:r>
                    </a:p>
                  </a:txBody>
                  <a:tcPr marL="51431" marR="51431" marT="0" marB="0" horzOverflow="overflow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14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"/>
                          <a:ea typeface="楷体" panose="02010609060101010101" pitchFamily="49" charset="-122"/>
                        </a:rPr>
                        <a:t>脚</a:t>
                      </a:r>
                    </a:p>
                  </a:txBody>
                  <a:tcPr marL="51431" marR="51431" marT="0" marB="0" horzOverflow="overflow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7" name="TextBox 6">
            <a:extLst>
              <a:ext uri="{FF2B5EF4-FFF2-40B4-BE49-F238E27FC236}">
                <a16:creationId xmlns:a16="http://schemas.microsoft.com/office/drawing/2014/main" xmlns="" id="{A924A91A-D49A-44F2-8F02-6BA6F788E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482" y="4232523"/>
            <a:ext cx="3423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/>
            </a:lvl1pPr>
          </a:lstStyle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所以有</a:t>
            </a:r>
            <a:r>
              <a:rPr lang="en-US" altLang="zh-CN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只鸡，</a:t>
            </a:r>
            <a:r>
              <a:rPr lang="en-US" altLang="zh-CN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只兔。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DCA33D62-A03B-41E8-B3BD-F4524947553A}"/>
              </a:ext>
            </a:extLst>
          </p:cNvPr>
          <p:cNvSpPr/>
          <p:nvPr/>
        </p:nvSpPr>
        <p:spPr>
          <a:xfrm>
            <a:off x="2163729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26DA5D1A-0D93-44C1-AE4F-50BC0D03183A}"/>
              </a:ext>
            </a:extLst>
          </p:cNvPr>
          <p:cNvSpPr/>
          <p:nvPr/>
        </p:nvSpPr>
        <p:spPr>
          <a:xfrm>
            <a:off x="2163729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C5BE5AA4-6531-4B7C-9BD5-7B27B1B98AD5}"/>
              </a:ext>
            </a:extLst>
          </p:cNvPr>
          <p:cNvSpPr/>
          <p:nvPr/>
        </p:nvSpPr>
        <p:spPr>
          <a:xfrm>
            <a:off x="2072973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4AFB5AA8-AF21-43D7-85B9-5CAC8CC4C046}"/>
              </a:ext>
            </a:extLst>
          </p:cNvPr>
          <p:cNvSpPr/>
          <p:nvPr/>
        </p:nvSpPr>
        <p:spPr>
          <a:xfrm>
            <a:off x="2813580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59F2DD73-7762-494D-B4FD-B5E88A136CD7}"/>
              </a:ext>
            </a:extLst>
          </p:cNvPr>
          <p:cNvSpPr/>
          <p:nvPr/>
        </p:nvSpPr>
        <p:spPr>
          <a:xfrm>
            <a:off x="2819117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CBF0124D-5AC0-45A5-BAEC-13F42A4E1961}"/>
              </a:ext>
            </a:extLst>
          </p:cNvPr>
          <p:cNvSpPr/>
          <p:nvPr/>
        </p:nvSpPr>
        <p:spPr>
          <a:xfrm>
            <a:off x="2734693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A0A84250-B8A3-49B1-B383-BCCFA1F2A957}"/>
              </a:ext>
            </a:extLst>
          </p:cNvPr>
          <p:cNvSpPr/>
          <p:nvPr/>
        </p:nvSpPr>
        <p:spPr>
          <a:xfrm>
            <a:off x="3479308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6814DE25-A8BA-43C3-9465-1DB6EED8807D}"/>
              </a:ext>
            </a:extLst>
          </p:cNvPr>
          <p:cNvSpPr/>
          <p:nvPr/>
        </p:nvSpPr>
        <p:spPr>
          <a:xfrm>
            <a:off x="3479430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1E744DF5-AF06-4C2B-A5CD-EAC3033ABA12}"/>
              </a:ext>
            </a:extLst>
          </p:cNvPr>
          <p:cNvSpPr/>
          <p:nvPr/>
        </p:nvSpPr>
        <p:spPr>
          <a:xfrm>
            <a:off x="3388321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A0E5DA51-C058-4F1C-899E-2CCAB18575DE}"/>
              </a:ext>
            </a:extLst>
          </p:cNvPr>
          <p:cNvSpPr/>
          <p:nvPr/>
        </p:nvSpPr>
        <p:spPr>
          <a:xfrm>
            <a:off x="4128852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315CAB5-56F7-481D-AC59-2508A7F61390}"/>
              </a:ext>
            </a:extLst>
          </p:cNvPr>
          <p:cNvSpPr/>
          <p:nvPr/>
        </p:nvSpPr>
        <p:spPr>
          <a:xfrm>
            <a:off x="4115467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B8CDA0D4-EA51-4958-871B-C39231DD05EC}"/>
              </a:ext>
            </a:extLst>
          </p:cNvPr>
          <p:cNvSpPr/>
          <p:nvPr/>
        </p:nvSpPr>
        <p:spPr>
          <a:xfrm>
            <a:off x="4041949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AEA69630-29BD-4A58-9C11-EAEE9B0C5A9E}"/>
              </a:ext>
            </a:extLst>
          </p:cNvPr>
          <p:cNvSpPr/>
          <p:nvPr/>
        </p:nvSpPr>
        <p:spPr>
          <a:xfrm>
            <a:off x="4762212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DB1AFAB3-B6C0-4044-9BEA-6D484C56F5C6}"/>
              </a:ext>
            </a:extLst>
          </p:cNvPr>
          <p:cNvSpPr/>
          <p:nvPr/>
        </p:nvSpPr>
        <p:spPr>
          <a:xfrm>
            <a:off x="4751504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B159632C-E7BD-4DFD-AF7F-B98D5F0E7E4D}"/>
              </a:ext>
            </a:extLst>
          </p:cNvPr>
          <p:cNvSpPr/>
          <p:nvPr/>
        </p:nvSpPr>
        <p:spPr>
          <a:xfrm>
            <a:off x="4687485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064B75BA-D648-41A5-B9B6-CA6F29DAF682}"/>
              </a:ext>
            </a:extLst>
          </p:cNvPr>
          <p:cNvSpPr/>
          <p:nvPr/>
        </p:nvSpPr>
        <p:spPr>
          <a:xfrm>
            <a:off x="5395572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BF40C9CE-3029-476A-BE9F-2C4A7FCC564A}"/>
              </a:ext>
            </a:extLst>
          </p:cNvPr>
          <p:cNvSpPr/>
          <p:nvPr/>
        </p:nvSpPr>
        <p:spPr>
          <a:xfrm>
            <a:off x="5403725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2CA8AF5D-71AC-493E-8452-BA6C9BE9F3F9}"/>
              </a:ext>
            </a:extLst>
          </p:cNvPr>
          <p:cNvSpPr/>
          <p:nvPr/>
        </p:nvSpPr>
        <p:spPr>
          <a:xfrm>
            <a:off x="5324929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64008764-308A-474B-A60F-EFE6C9F6E6A0}"/>
              </a:ext>
            </a:extLst>
          </p:cNvPr>
          <p:cNvSpPr/>
          <p:nvPr/>
        </p:nvSpPr>
        <p:spPr>
          <a:xfrm>
            <a:off x="6053208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528ABA7E-5D55-4B80-BB06-19C702AB830A}"/>
              </a:ext>
            </a:extLst>
          </p:cNvPr>
          <p:cNvSpPr/>
          <p:nvPr/>
        </p:nvSpPr>
        <p:spPr>
          <a:xfrm>
            <a:off x="6047854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5C7588E0-640B-449E-B2B9-7E40B7DEF41A}"/>
              </a:ext>
            </a:extLst>
          </p:cNvPr>
          <p:cNvSpPr/>
          <p:nvPr/>
        </p:nvSpPr>
        <p:spPr>
          <a:xfrm>
            <a:off x="5978557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xmlns="" id="{9DA6A922-C80D-4529-9C40-74B4522EF4E3}"/>
              </a:ext>
            </a:extLst>
          </p:cNvPr>
          <p:cNvSpPr/>
          <p:nvPr/>
        </p:nvSpPr>
        <p:spPr>
          <a:xfrm>
            <a:off x="6710844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F8D81EAD-D31B-46F5-88CC-F6374531B225}"/>
              </a:ext>
            </a:extLst>
          </p:cNvPr>
          <p:cNvSpPr/>
          <p:nvPr/>
        </p:nvSpPr>
        <p:spPr>
          <a:xfrm>
            <a:off x="6708167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xmlns="" id="{1DC377F0-FDC5-42BC-B0C7-4B0A7B2444CB}"/>
              </a:ext>
            </a:extLst>
          </p:cNvPr>
          <p:cNvSpPr/>
          <p:nvPr/>
        </p:nvSpPr>
        <p:spPr>
          <a:xfrm>
            <a:off x="6624093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F72FA535-4743-4F81-895F-B6ABF80BBDDA}"/>
              </a:ext>
            </a:extLst>
          </p:cNvPr>
          <p:cNvSpPr/>
          <p:nvPr/>
        </p:nvSpPr>
        <p:spPr>
          <a:xfrm>
            <a:off x="7368478" y="2690763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xmlns="" id="{82B7CA1B-03A9-4D98-9595-71D341A96C59}"/>
              </a:ext>
            </a:extLst>
          </p:cNvPr>
          <p:cNvSpPr/>
          <p:nvPr/>
        </p:nvSpPr>
        <p:spPr>
          <a:xfrm>
            <a:off x="7368478" y="3178639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xmlns="" id="{BD0FAADA-2F35-46B0-AC42-F85CE3DEF74A}"/>
              </a:ext>
            </a:extLst>
          </p:cNvPr>
          <p:cNvSpPr/>
          <p:nvPr/>
        </p:nvSpPr>
        <p:spPr>
          <a:xfrm>
            <a:off x="7277722" y="3653538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" y="1081267"/>
            <a:ext cx="81142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笼子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里有若干只鸡和兔。从上面数，有</a:t>
            </a: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个头，从下面数，有</a:t>
            </a: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26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只脚。鸡和兔各几只？</a:t>
            </a:r>
          </a:p>
        </p:txBody>
      </p:sp>
      <p:sp>
        <p:nvSpPr>
          <p:cNvPr id="49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" y="555285"/>
            <a:ext cx="77487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小组讨论</a:t>
            </a:r>
            <a:r>
              <a:rPr lang="en-US" altLang="zh-CN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可以怎样解决问题呢？展示你的方法。</a:t>
            </a:r>
            <a:endParaRPr lang="zh-CN" altLang="en-US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110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" y="658802"/>
            <a:ext cx="75119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小组讨论</a:t>
            </a:r>
            <a:r>
              <a:rPr lang="en-US" altLang="zh-CN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Script"/>
                <a:ea typeface="楷体" panose="02010609060101010101" pitchFamily="49" charset="-122"/>
              </a:rPr>
              <a:t>你还能想到更简单的办法吗？</a:t>
            </a:r>
            <a:endParaRPr lang="zh-CN" altLang="en-US" b="1" dirty="0">
              <a:solidFill>
                <a:schemeClr val="tx1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B20D49F3-BEC5-442F-95EA-1450C154D83B}"/>
              </a:ext>
            </a:extLst>
          </p:cNvPr>
          <p:cNvSpPr txBox="1"/>
          <p:nvPr/>
        </p:nvSpPr>
        <p:spPr>
          <a:xfrm>
            <a:off x="515377" y="1493118"/>
            <a:ext cx="3040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>
                <a:solidFill>
                  <a:srgbClr val="00B050"/>
                </a:solidFill>
              </a:rPr>
              <a:t>方法二：</a:t>
            </a:r>
            <a:r>
              <a:rPr lang="zh-CN" altLang="en-US" dirty="0">
                <a:solidFill>
                  <a:srgbClr val="00B050"/>
                </a:solidFill>
              </a:rPr>
              <a:t>假设法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D463D600-42C3-4206-8F47-5025ADE1CBDA}"/>
              </a:ext>
            </a:extLst>
          </p:cNvPr>
          <p:cNvSpPr txBox="1"/>
          <p:nvPr/>
        </p:nvSpPr>
        <p:spPr>
          <a:xfrm>
            <a:off x="5220056" y="1971762"/>
            <a:ext cx="36339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26-8×2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4-2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=(26-16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÷2</a:t>
            </a:r>
          </a:p>
          <a:p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=10÷2</a:t>
            </a:r>
          </a:p>
          <a:p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鸡的数量：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8-5=3(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B4249ED2-91EC-4420-982B-D78A32FEAE4D}"/>
              </a:ext>
            </a:extLst>
          </p:cNvPr>
          <p:cNvSpPr/>
          <p:nvPr/>
        </p:nvSpPr>
        <p:spPr>
          <a:xfrm>
            <a:off x="515378" y="2447225"/>
            <a:ext cx="4461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笼子里脚的数量是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8×2=16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28D002FD-5B41-4A6E-B319-6632F0A28A50}"/>
              </a:ext>
            </a:extLst>
          </p:cNvPr>
          <p:cNvSpPr/>
          <p:nvPr/>
        </p:nvSpPr>
        <p:spPr>
          <a:xfrm>
            <a:off x="515378" y="2886000"/>
            <a:ext cx="4279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与实际相差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26-16=10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D26E0F70-B068-4B55-B78D-04BFC050E630}"/>
              </a:ext>
            </a:extLst>
          </p:cNvPr>
          <p:cNvSpPr/>
          <p:nvPr/>
        </p:nvSpPr>
        <p:spPr>
          <a:xfrm>
            <a:off x="515378" y="3324775"/>
            <a:ext cx="4679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每只兔子少算了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10÷2=5(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就是兔子的数量。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500" y="3832815"/>
            <a:ext cx="317481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答：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只兔子，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只鸡。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xmlns="" id="{3402F4E9-39A3-4DA2-AD32-6984F2C38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262" y="1558735"/>
            <a:ext cx="2359946" cy="461665"/>
          </a:xfrm>
          <a:prstGeom prst="rect">
            <a:avLst/>
          </a:prstGeom>
          <a:noFill/>
          <a:extLst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规范</a:t>
            </a:r>
            <a:r>
              <a:rPr lang="zh-CN" altLang="en-US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解答</a:t>
            </a:r>
            <a:r>
              <a:rPr lang="en-US" altLang="zh-CN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45061" y="2004970"/>
            <a:ext cx="4671439" cy="219678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22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假设笼子里全是鸡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675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9" grpId="0"/>
      <p:bldP spid="20" grpId="0"/>
      <p:bldP spid="21" grpId="0"/>
      <p:bldP spid="22" grpId="0"/>
      <p:bldP spid="23" grpId="0" autoUpdateAnimBg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41" y="667429"/>
            <a:ext cx="75119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思考</a:t>
            </a:r>
            <a:r>
              <a:rPr lang="en-US" altLang="zh-CN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Script"/>
                <a:ea typeface="楷体" panose="02010609060101010101" pitchFamily="49" charset="-122"/>
              </a:rPr>
              <a:t>假设笼子全是兔子的话，该如何计算？</a:t>
            </a:r>
            <a:endParaRPr lang="zh-CN" altLang="en-US" b="1" dirty="0">
              <a:solidFill>
                <a:schemeClr val="tx1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B20D49F3-BEC5-442F-95EA-1450C154D83B}"/>
              </a:ext>
            </a:extLst>
          </p:cNvPr>
          <p:cNvSpPr txBox="1"/>
          <p:nvPr/>
        </p:nvSpPr>
        <p:spPr>
          <a:xfrm>
            <a:off x="515377" y="1493210"/>
            <a:ext cx="3040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>
                <a:solidFill>
                  <a:srgbClr val="00B050"/>
                </a:solidFill>
              </a:rPr>
              <a:t>方法二：</a:t>
            </a:r>
            <a:r>
              <a:rPr lang="zh-CN" altLang="en-US" dirty="0">
                <a:solidFill>
                  <a:srgbClr val="00B050"/>
                </a:solidFill>
              </a:rPr>
              <a:t>假设法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D463D600-42C3-4206-8F47-5025ADE1CBDA}"/>
              </a:ext>
            </a:extLst>
          </p:cNvPr>
          <p:cNvSpPr txBox="1"/>
          <p:nvPr/>
        </p:nvSpPr>
        <p:spPr>
          <a:xfrm>
            <a:off x="5220056" y="1971854"/>
            <a:ext cx="36339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8×4-26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4-2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=(32-26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÷2</a:t>
            </a: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=6÷2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=3(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兔子的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数量：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8-3=5(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B4249ED2-91EC-4420-982B-D78A32FEAE4D}"/>
              </a:ext>
            </a:extLst>
          </p:cNvPr>
          <p:cNvSpPr/>
          <p:nvPr/>
        </p:nvSpPr>
        <p:spPr>
          <a:xfrm>
            <a:off x="515378" y="2447317"/>
            <a:ext cx="4461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笼子里脚的数量是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8×4=32(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28D002FD-5B41-4A6E-B319-6632F0A28A50}"/>
              </a:ext>
            </a:extLst>
          </p:cNvPr>
          <p:cNvSpPr/>
          <p:nvPr/>
        </p:nvSpPr>
        <p:spPr>
          <a:xfrm>
            <a:off x="515378" y="2886092"/>
            <a:ext cx="4279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与实际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相差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32-26=6(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D26E0F70-B068-4B55-B78D-04BFC050E630}"/>
              </a:ext>
            </a:extLst>
          </p:cNvPr>
          <p:cNvSpPr/>
          <p:nvPr/>
        </p:nvSpPr>
        <p:spPr>
          <a:xfrm>
            <a:off x="515378" y="3324867"/>
            <a:ext cx="4679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每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只鸡多算了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6÷2=3(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就是鸡的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数量。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500" y="3832907"/>
            <a:ext cx="317481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答：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只兔子，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只鸡。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xmlns="" id="{3402F4E9-39A3-4DA2-AD32-6984F2C38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262" y="1558827"/>
            <a:ext cx="2359946" cy="461665"/>
          </a:xfrm>
          <a:prstGeom prst="rect">
            <a:avLst/>
          </a:prstGeom>
          <a:noFill/>
          <a:extLst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规范</a:t>
            </a:r>
            <a:r>
              <a:rPr lang="zh-CN" altLang="en-US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解答</a:t>
            </a:r>
            <a:r>
              <a:rPr lang="en-US" altLang="zh-CN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45061" y="2005062"/>
            <a:ext cx="4671439" cy="219678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22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假设笼子里全</a:t>
            </a:r>
            <a:r>
              <a:rPr lang="zh-CN" altLang="en-US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是兔子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526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 autoUpdateAnimBg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7">
            <a:extLst>
              <a:ext uri="{FF2B5EF4-FFF2-40B4-BE49-F238E27FC236}">
                <a16:creationId xmlns:a16="http://schemas.microsoft.com/office/drawing/2014/main" xmlns="" id="{C362AC61-B0FD-4B41-BA2F-51F9B440F44E}"/>
              </a:ext>
            </a:extLst>
          </p:cNvPr>
          <p:cNvSpPr txBox="1"/>
          <p:nvPr/>
        </p:nvSpPr>
        <p:spPr>
          <a:xfrm>
            <a:off x="515377" y="1095831"/>
            <a:ext cx="740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方法三：抬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</a:rPr>
              <a:t>脚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法</a:t>
            </a:r>
            <a:r>
              <a:rPr lang="zh-CN" altLang="en-US" baseline="-25000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—-</a:t>
            </a:r>
            <a:r>
              <a:rPr lang="en-US" altLang="zh-CN" baseline="-25000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鸡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</a:rPr>
              <a:t>抬起一只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脚</a:t>
            </a:r>
            <a:r>
              <a:rPr lang="en-US" altLang="zh-CN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,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兔子抬起两只脚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</a:rPr>
              <a:t>。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2DF4066-A315-464F-A176-1153A41D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77" y="1557496"/>
            <a:ext cx="8533732" cy="1733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）假如让鸡抬起一只脚，兔子抬起两只脚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</a:t>
            </a:r>
            <a:endParaRPr lang="en-US" altLang="zh-CN" sz="24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还有 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26÷2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13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只脚。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脚的总数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头的总数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兔子的只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数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，有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13-8=5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只兔子，</a:t>
            </a:r>
            <a:endParaRPr lang="en-US" altLang="zh-CN" sz="24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有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8-5=3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只鸡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8D1085DD-96FE-4D2E-A523-0E30DF3819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696" y="3388862"/>
            <a:ext cx="921830" cy="924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9963675-7EF4-4AF8-A2FA-E2C92F67D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782243" y="3371299"/>
            <a:ext cx="719695" cy="10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2">
            <a:extLst>
              <a:ext uri="{FF2B5EF4-FFF2-40B4-BE49-F238E27FC236}">
                <a16:creationId xmlns:a16="http://schemas.microsoft.com/office/drawing/2014/main" xmlns="" id="{14656010-38D8-4562-83BE-1D4690B3E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711" y="4410644"/>
            <a:ext cx="317481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" pitchFamily="49" charset="-122"/>
              </a:rPr>
              <a:t>答：</a:t>
            </a:r>
            <a:r>
              <a:rPr lang="en-US" altLang="zh-CN" dirty="0">
                <a:solidFill>
                  <a:schemeClr val="tx1"/>
                </a:solidFill>
                <a:latin typeface="楷体" pitchFamily="49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楷体" pitchFamily="49" charset="-122"/>
              </a:rPr>
              <a:t>只兔子，</a:t>
            </a:r>
            <a:r>
              <a:rPr lang="en-US" altLang="zh-CN" dirty="0">
                <a:solidFill>
                  <a:schemeClr val="tx1"/>
                </a:solidFill>
                <a:latin typeface="楷体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" pitchFamily="49" charset="-122"/>
              </a:rPr>
              <a:t>只鸡。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xmlns="" id="{973D8F4F-0E73-43AA-B33D-645306CE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" y="555290"/>
            <a:ext cx="75119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小组讨论</a:t>
            </a:r>
            <a:r>
              <a:rPr lang="en-US" altLang="zh-CN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r>
              <a:rPr lang="zh-CN" altLang="en-US" b="1" dirty="0" smtClean="0">
                <a:solidFill>
                  <a:schemeClr val="tx1"/>
                </a:solidFill>
                <a:latin typeface="Script"/>
                <a:ea typeface="楷体" panose="02010609060101010101" pitchFamily="49" charset="-122"/>
              </a:rPr>
              <a:t>你还能想到更简单的办法吗？</a:t>
            </a:r>
            <a:endParaRPr lang="zh-CN" altLang="en-US" b="1" dirty="0">
              <a:solidFill>
                <a:schemeClr val="tx1"/>
              </a:solidFill>
              <a:latin typeface="Scrip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675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69" y="806875"/>
            <a:ext cx="567000" cy="31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928357" y="728035"/>
            <a:ext cx="3592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从上面数，有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35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个头，</a:t>
            </a:r>
            <a:endParaRPr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000081" y="693885"/>
            <a:ext cx="7634121" cy="116329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笼子里有若干只鸡和兔。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1076548" y="1267439"/>
            <a:ext cx="36168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下面数，有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94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只脚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693381" y="1267439"/>
            <a:ext cx="30180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鸡和兔各有几只？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106" y="1124010"/>
            <a:ext cx="682696" cy="10118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B20D49F3-BEC5-442F-95EA-1450C154D83B}"/>
              </a:ext>
            </a:extLst>
          </p:cNvPr>
          <p:cNvSpPr txBox="1"/>
          <p:nvPr/>
        </p:nvSpPr>
        <p:spPr>
          <a:xfrm>
            <a:off x="596298" y="2085601"/>
            <a:ext cx="4097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/>
              <a:t>方法一：</a:t>
            </a:r>
            <a:r>
              <a:rPr lang="zh-CN" altLang="en-US" dirty="0"/>
              <a:t>假设笼子里全是</a:t>
            </a:r>
            <a:r>
              <a:rPr lang="zh-CN" altLang="en-US" dirty="0" smtClean="0"/>
              <a:t>鸡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D463D600-42C3-4206-8F47-5025ADE1CBDA}"/>
              </a:ext>
            </a:extLst>
          </p:cNvPr>
          <p:cNvSpPr txBox="1"/>
          <p:nvPr/>
        </p:nvSpPr>
        <p:spPr>
          <a:xfrm>
            <a:off x="5300977" y="2498629"/>
            <a:ext cx="36339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94-35×2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4-2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=(94-70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÷2</a:t>
            </a: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=24÷2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=12(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鸡的数量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35-12=23(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4249ED2-91EC-4420-982B-D78A32FEAE4D}"/>
              </a:ext>
            </a:extLst>
          </p:cNvPr>
          <p:cNvSpPr/>
          <p:nvPr/>
        </p:nvSpPr>
        <p:spPr>
          <a:xfrm>
            <a:off x="517712" y="2629075"/>
            <a:ext cx="4461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笼子里脚的数量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35×2=70(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8D002FD-5B41-4A6E-B319-6632F0A28A50}"/>
              </a:ext>
            </a:extLst>
          </p:cNvPr>
          <p:cNvSpPr/>
          <p:nvPr/>
        </p:nvSpPr>
        <p:spPr>
          <a:xfrm>
            <a:off x="517712" y="3129471"/>
            <a:ext cx="4279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与实际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相差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94-70=24(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D26E0F70-B068-4B55-B78D-04BFC050E630}"/>
              </a:ext>
            </a:extLst>
          </p:cNvPr>
          <p:cNvSpPr/>
          <p:nvPr/>
        </p:nvSpPr>
        <p:spPr>
          <a:xfrm>
            <a:off x="517712" y="3626515"/>
            <a:ext cx="4679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每只兔子少算了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24÷2=12(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就是兔子的数量。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71" y="4427419"/>
            <a:ext cx="3532019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答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</a:rPr>
              <a:t>23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只鸡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只兔子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xmlns="" id="{3402F4E9-39A3-4DA2-AD32-6984F2C38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183" y="2085602"/>
            <a:ext cx="2359946" cy="461665"/>
          </a:xfrm>
          <a:prstGeom prst="rect">
            <a:avLst/>
          </a:prstGeom>
          <a:noFill/>
          <a:extLst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规范</a:t>
            </a:r>
            <a:r>
              <a:rPr lang="zh-CN" altLang="en-US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解答</a:t>
            </a:r>
            <a:r>
              <a:rPr lang="en-US" altLang="zh-CN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B4249ED2-91EC-4420-982B-D78A32FEAE4D}"/>
              </a:ext>
            </a:extLst>
          </p:cNvPr>
          <p:cNvSpPr/>
          <p:nvPr/>
        </p:nvSpPr>
        <p:spPr>
          <a:xfrm>
            <a:off x="1076872" y="706705"/>
            <a:ext cx="70959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你能试着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用上面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的方法解决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孙子算经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中的“鸡兔同笼”问题吗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3389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11" grpId="0"/>
      <p:bldP spid="13" grpId="0"/>
      <p:bldP spid="14" grpId="0"/>
      <p:bldP spid="15" grpId="0"/>
      <p:bldP spid="16" grpId="0"/>
      <p:bldP spid="17" grpId="0" autoUpdateAnimBg="0"/>
      <p:bldP spid="18" grpId="0"/>
      <p:bldP spid="1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69" y="806875"/>
            <a:ext cx="567000" cy="31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928357" y="728035"/>
            <a:ext cx="3592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从上面数，有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35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个头，</a:t>
            </a:r>
            <a:endParaRPr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000081" y="693885"/>
            <a:ext cx="7634121" cy="116329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笼子里有若干只鸡和兔。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1076548" y="1267439"/>
            <a:ext cx="36168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下面数，有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94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只脚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693381" y="1267439"/>
            <a:ext cx="30180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鸡和兔各有几只？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106" y="1124010"/>
            <a:ext cx="682696" cy="10118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B20D49F3-BEC5-442F-95EA-1450C154D83B}"/>
              </a:ext>
            </a:extLst>
          </p:cNvPr>
          <p:cNvSpPr txBox="1"/>
          <p:nvPr/>
        </p:nvSpPr>
        <p:spPr>
          <a:xfrm>
            <a:off x="596298" y="2085601"/>
            <a:ext cx="4332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/>
              <a:t>方法二：</a:t>
            </a:r>
            <a:r>
              <a:rPr lang="zh-CN" altLang="en-US" dirty="0"/>
              <a:t>假设笼子里全</a:t>
            </a:r>
            <a:r>
              <a:rPr lang="zh-CN" altLang="en-US" dirty="0" smtClean="0"/>
              <a:t>是兔子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D463D600-42C3-4206-8F47-5025ADE1CBDA}"/>
              </a:ext>
            </a:extLst>
          </p:cNvPr>
          <p:cNvSpPr txBox="1"/>
          <p:nvPr/>
        </p:nvSpPr>
        <p:spPr>
          <a:xfrm>
            <a:off x="5300977" y="2498629"/>
            <a:ext cx="3843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35×4-94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4-2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=(140-94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÷2</a:t>
            </a: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=46÷2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=23(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兔子的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数量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35-23=12(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4249ED2-91EC-4420-982B-D78A32FEAE4D}"/>
              </a:ext>
            </a:extLst>
          </p:cNvPr>
          <p:cNvSpPr/>
          <p:nvPr/>
        </p:nvSpPr>
        <p:spPr>
          <a:xfrm>
            <a:off x="517711" y="2629075"/>
            <a:ext cx="4679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笼子里脚的数量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35×4=140(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8D002FD-5B41-4A6E-B319-6632F0A28A50}"/>
              </a:ext>
            </a:extLst>
          </p:cNvPr>
          <p:cNvSpPr/>
          <p:nvPr/>
        </p:nvSpPr>
        <p:spPr>
          <a:xfrm>
            <a:off x="517712" y="3129471"/>
            <a:ext cx="4279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与实际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相差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140-94=46(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D26E0F70-B068-4B55-B78D-04BFC050E630}"/>
              </a:ext>
            </a:extLst>
          </p:cNvPr>
          <p:cNvSpPr/>
          <p:nvPr/>
        </p:nvSpPr>
        <p:spPr>
          <a:xfrm>
            <a:off x="517712" y="3626515"/>
            <a:ext cx="4679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每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只鸡多算了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46÷2=23(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就是鸡的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数量。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xmlns="" id="{3402F4E9-39A3-4DA2-AD32-6984F2C38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183" y="2085602"/>
            <a:ext cx="2359946" cy="461665"/>
          </a:xfrm>
          <a:prstGeom prst="rect">
            <a:avLst/>
          </a:prstGeom>
          <a:noFill/>
          <a:extLst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规范</a:t>
            </a:r>
            <a:r>
              <a:rPr lang="zh-CN" altLang="en-US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解答</a:t>
            </a:r>
            <a:r>
              <a:rPr lang="en-US" altLang="zh-CN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18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792" y="4398413"/>
            <a:ext cx="3532019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答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</a:rPr>
              <a:t>23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只鸡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只兔子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484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7" grpId="0" autoUpdateAnimBg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69" y="806875"/>
            <a:ext cx="567000" cy="31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928357" y="728035"/>
            <a:ext cx="3592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从上面数，有</a:t>
            </a: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35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个头，</a:t>
            </a:r>
            <a:endParaRPr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000081" y="693885"/>
            <a:ext cx="7634121" cy="116329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笼子里有若干只鸡和兔。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1076548" y="1267439"/>
            <a:ext cx="36168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下面数，有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94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只脚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1B74386-FEDE-4793-A4CD-0989C6B08B8F}"/>
              </a:ext>
            </a:extLst>
          </p:cNvPr>
          <p:cNvSpPr/>
          <p:nvPr/>
        </p:nvSpPr>
        <p:spPr>
          <a:xfrm>
            <a:off x="4693381" y="1267439"/>
            <a:ext cx="30180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鸡和兔各有几只？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106" y="1124010"/>
            <a:ext cx="682696" cy="1011852"/>
          </a:xfrm>
          <a:prstGeom prst="rect">
            <a:avLst/>
          </a:prstGeom>
        </p:spPr>
      </p:pic>
      <p:sp>
        <p:nvSpPr>
          <p:cNvPr id="19" name="文本框 27">
            <a:extLst>
              <a:ext uri="{FF2B5EF4-FFF2-40B4-BE49-F238E27FC236}">
                <a16:creationId xmlns:a16="http://schemas.microsoft.com/office/drawing/2014/main" xmlns="" id="{C362AC61-B0FD-4B41-BA2F-51F9B440F44E}"/>
              </a:ext>
            </a:extLst>
          </p:cNvPr>
          <p:cNvSpPr txBox="1"/>
          <p:nvPr/>
        </p:nvSpPr>
        <p:spPr>
          <a:xfrm>
            <a:off x="430150" y="1835693"/>
            <a:ext cx="740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>
                <a:latin typeface="楷体" panose="02010609060101010101" pitchFamily="49" charset="-122"/>
              </a:rPr>
              <a:t>方法三：抬</a:t>
            </a:r>
            <a:r>
              <a:rPr lang="zh-CN" altLang="en-US" dirty="0">
                <a:latin typeface="楷体" panose="02010609060101010101" pitchFamily="49" charset="-122"/>
              </a:rPr>
              <a:t>脚</a:t>
            </a:r>
            <a:r>
              <a:rPr lang="zh-CN" altLang="en-US" dirty="0" smtClean="0">
                <a:latin typeface="楷体" panose="02010609060101010101" pitchFamily="49" charset="-122"/>
              </a:rPr>
              <a:t>法</a:t>
            </a:r>
            <a:r>
              <a:rPr lang="zh-CN" altLang="en-US" baseline="-25000" dirty="0" smtClean="0">
                <a:latin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</a:rPr>
              <a:t>—-</a:t>
            </a:r>
            <a:r>
              <a:rPr lang="en-US" altLang="zh-CN" baseline="-25000" dirty="0" smtClean="0">
                <a:latin typeface="楷体" panose="02010609060101010101" pitchFamily="49" charset="-122"/>
              </a:rPr>
              <a:t> </a:t>
            </a:r>
            <a:r>
              <a:rPr lang="zh-CN" altLang="en-US" dirty="0" smtClean="0">
                <a:latin typeface="楷体" panose="02010609060101010101" pitchFamily="49" charset="-122"/>
              </a:rPr>
              <a:t>鸡</a:t>
            </a:r>
            <a:r>
              <a:rPr lang="zh-CN" altLang="en-US" dirty="0">
                <a:latin typeface="楷体" panose="02010609060101010101" pitchFamily="49" charset="-122"/>
              </a:rPr>
              <a:t>抬起一只</a:t>
            </a:r>
            <a:r>
              <a:rPr lang="zh-CN" altLang="en-US" dirty="0" smtClean="0">
                <a:latin typeface="楷体" panose="02010609060101010101" pitchFamily="49" charset="-122"/>
              </a:rPr>
              <a:t>脚</a:t>
            </a:r>
            <a:r>
              <a:rPr lang="en-US" altLang="zh-CN" dirty="0" smtClean="0">
                <a:latin typeface="楷体" panose="02010609060101010101" pitchFamily="49" charset="-122"/>
              </a:rPr>
              <a:t>,</a:t>
            </a:r>
            <a:r>
              <a:rPr lang="zh-CN" altLang="en-US" dirty="0" smtClean="0">
                <a:latin typeface="楷体" panose="02010609060101010101" pitchFamily="49" charset="-122"/>
              </a:rPr>
              <a:t>兔子抬起两只脚。</a:t>
            </a:r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xmlns="" id="{A2DF4066-A315-464F-A176-1153A41D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99" y="2335124"/>
            <a:ext cx="8448048" cy="1683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）假如让鸡抬起一只脚，兔子抬起两只脚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</a:t>
            </a:r>
            <a:endParaRPr lang="en-US" altLang="zh-CN" sz="24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还有 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94÷2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＝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47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脚。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脚的总数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头的总数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兔子的只数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47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－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35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＝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12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只兔子，</a:t>
            </a:r>
            <a:endParaRPr lang="en-US" altLang="zh-CN" sz="24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有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35-12=23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只鸡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1362" y="4131099"/>
            <a:ext cx="3532019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答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  <a:latin typeface="楷体" panose="02010609060101010101" pitchFamily="49" charset="-122"/>
              </a:rPr>
              <a:t>23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只鸡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楷体" panose="02010609060101010101" pitchFamily="49" charset="-122"/>
              </a:rPr>
              <a:t>只兔子</a:t>
            </a:r>
            <a:r>
              <a:rPr lang="zh-CN" altLang="en-US" dirty="0" smtClean="0">
                <a:solidFill>
                  <a:schemeClr val="tx1"/>
                </a:solidFill>
                <a:latin typeface="楷体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94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9502" y="816265"/>
            <a:ext cx="567000" cy="31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14">
            <a:extLst>
              <a:ext uri="{FF2B5EF4-FFF2-40B4-BE49-F238E27FC236}">
                <a16:creationId xmlns:a16="http://schemas.microsoft.com/office/drawing/2014/main" xmlns="" id="{B4F9FA74-FC60-4BE7-9E68-FD8A9FE42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134" y="717901"/>
            <a:ext cx="7404871" cy="91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自行车和三轮车共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辆，总共有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个轮子。自行车和三轮车各有多少辆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zh-CN" altLang="en-US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B20D49F3-BEC5-442F-95EA-1450C154D83B}"/>
              </a:ext>
            </a:extLst>
          </p:cNvPr>
          <p:cNvSpPr txBox="1"/>
          <p:nvPr/>
        </p:nvSpPr>
        <p:spPr>
          <a:xfrm>
            <a:off x="522819" y="1840673"/>
            <a:ext cx="4332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smtClean="0"/>
              <a:t>假设全是三轮车。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D463D600-42C3-4206-8F47-5025ADE1CBDA}"/>
              </a:ext>
            </a:extLst>
          </p:cNvPr>
          <p:cNvSpPr txBox="1"/>
          <p:nvPr/>
        </p:nvSpPr>
        <p:spPr>
          <a:xfrm>
            <a:off x="5243827" y="2384147"/>
            <a:ext cx="384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3×10-26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÷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3-2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=4÷1</a:t>
            </a:r>
          </a:p>
          <a:p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=4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（辆）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则三轮车有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10-4=6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（辆）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smtClean="0">
                <a:latin typeface="楷体" panose="02010609060101010101" pitchFamily="49" charset="-122"/>
                <a:ea typeface="楷体" panose="02010609060101010101" pitchFamily="49" charset="-122"/>
              </a:rPr>
              <a:t>答：自行车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辆，三轮车有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辆</a:t>
            </a:r>
            <a:endParaRPr lang="en-US" altLang="zh-CN" sz="24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4249ED2-91EC-4420-982B-D78A32FEAE4D}"/>
              </a:ext>
            </a:extLst>
          </p:cNvPr>
          <p:cNvSpPr/>
          <p:nvPr/>
        </p:nvSpPr>
        <p:spPr>
          <a:xfrm>
            <a:off x="444232" y="2384147"/>
            <a:ext cx="4679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则一共有轮子</a:t>
            </a:r>
            <a:r>
              <a:rPr lang="en-US" altLang="zh-CN" sz="2400" b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3×10=30</a:t>
            </a:r>
            <a:r>
              <a:rPr lang="zh-CN" altLang="en-US" sz="2400" b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（个</a:t>
            </a: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8D002FD-5B41-4A6E-B319-6632F0A28A50}"/>
              </a:ext>
            </a:extLst>
          </p:cNvPr>
          <p:cNvSpPr/>
          <p:nvPr/>
        </p:nvSpPr>
        <p:spPr>
          <a:xfrm>
            <a:off x="444233" y="2884543"/>
            <a:ext cx="4279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实际</a:t>
            </a:r>
            <a:r>
              <a:rPr lang="zh-CN" altLang="en-US" sz="2400" b="1" smtClean="0">
                <a:latin typeface="楷体" panose="02010609060101010101" pitchFamily="49" charset="-122"/>
                <a:ea typeface="楷体" panose="02010609060101010101" pitchFamily="49" charset="-122"/>
              </a:rPr>
              <a:t>相差</a:t>
            </a:r>
            <a:r>
              <a:rPr lang="en-US" altLang="zh-CN" sz="2400" b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30-26=4(</a:t>
            </a:r>
            <a:r>
              <a:rPr lang="zh-CN" altLang="en-US" sz="2400" b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D26E0F70-B068-4B55-B78D-04BFC050E630}"/>
              </a:ext>
            </a:extLst>
          </p:cNvPr>
          <p:cNvSpPr/>
          <p:nvPr/>
        </p:nvSpPr>
        <p:spPr>
          <a:xfrm>
            <a:off x="444233" y="3381587"/>
            <a:ext cx="4679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因为</a:t>
            </a:r>
            <a:r>
              <a:rPr lang="en-US" altLang="zh-CN" sz="24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辆三轮车比</a:t>
            </a:r>
            <a:r>
              <a:rPr lang="en-US" altLang="zh-CN" sz="24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辆自行车多</a:t>
            </a:r>
            <a:r>
              <a:rPr lang="en-US" altLang="zh-CN" sz="2400" b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3-2=1</a:t>
            </a:r>
            <a:r>
              <a:rPr lang="zh-CN" altLang="en-US" sz="24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个轮子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3402F4E9-39A3-4DA2-AD32-6984F2C38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704" y="1840674"/>
            <a:ext cx="2359946" cy="461665"/>
          </a:xfrm>
          <a:prstGeom prst="rect">
            <a:avLst/>
          </a:prstGeom>
          <a:noFill/>
          <a:extLst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规范</a:t>
            </a:r>
            <a:r>
              <a:rPr lang="zh-CN" altLang="en-US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解答</a:t>
            </a:r>
            <a:r>
              <a:rPr lang="en-US" altLang="zh-CN" sz="2400" b="1" dirty="0" smtClean="0">
                <a:solidFill>
                  <a:srgbClr val="FF0000"/>
                </a:solidFill>
                <a:latin typeface="Script"/>
                <a:ea typeface="楷体" panose="02010609060101010101" pitchFamily="49" charset="-122"/>
              </a:rPr>
              <a:t>:</a:t>
            </a:r>
            <a:endParaRPr lang="en-US" altLang="zh-CN" sz="2400" b="1" dirty="0">
              <a:solidFill>
                <a:srgbClr val="FF0000"/>
              </a:solidFill>
              <a:latin typeface="Script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4231" y="4197107"/>
            <a:ext cx="4679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由此即可求出自行车有</a:t>
            </a:r>
            <a:r>
              <a: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辆，</a:t>
            </a:r>
            <a:r>
              <a: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10-4=6</a:t>
            </a:r>
            <a:r>
              <a: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，所以三轮车有</a:t>
            </a:r>
            <a:r>
              <a:rPr lang="en-US" altLang="zh-CN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辆</a:t>
            </a:r>
          </a:p>
        </p:txBody>
      </p:sp>
    </p:spTree>
    <p:extLst>
      <p:ext uri="{BB962C8B-B14F-4D97-AF65-F5344CB8AC3E}">
        <p14:creationId xmlns:p14="http://schemas.microsoft.com/office/powerpoint/2010/main" val="387691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2" grpId="0" autoUpdateAnimBg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51873" y="679229"/>
            <a:ext cx="5165517" cy="500137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zh-CN" sz="2800" b="1" dirty="0">
                <a:latin typeface="宋体" pitchFamily="2" charset="-122"/>
                <a:ea typeface="宋体" pitchFamily="2" charset="-122"/>
              </a:rPr>
              <a:t>这节课你们都学会了哪些知识？</a:t>
            </a:r>
            <a:endParaRPr lang="zh-CN" altLang="en-US" sz="28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73" y="1206678"/>
            <a:ext cx="4349316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 smtClean="0">
                <a:latin typeface="楷体" panose="02010609060101010101" pitchFamily="49" charset="-122"/>
              </a:rPr>
              <a:t>解决鸡兔同笼问题的方法</a:t>
            </a:r>
            <a:r>
              <a:rPr lang="en-US" altLang="zh-CN" sz="2800" dirty="0" smtClean="0">
                <a:latin typeface="楷体" panose="02010609060101010101" pitchFamily="49" charset="-122"/>
              </a:rPr>
              <a:t>:</a:t>
            </a:r>
            <a:endParaRPr lang="zh-CN" altLang="en-US" sz="2800" dirty="0">
              <a:latin typeface="楷体" panose="02010609060101010101" pitchFamily="49" charset="-122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015" y="1789243"/>
            <a:ext cx="1455699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列表法</a:t>
            </a:r>
            <a:endParaRPr lang="zh-CN" altLang="en-US" sz="2800" dirty="0">
              <a:solidFill>
                <a:srgbClr val="00B050"/>
              </a:solidFill>
              <a:latin typeface="楷体" panose="02010609060101010101" pitchFamily="49" charset="-122"/>
            </a:endParaRPr>
          </a:p>
        </p:txBody>
      </p:sp>
      <p:graphicFrame>
        <p:nvGraphicFramePr>
          <p:cNvPr id="7" name="Group 114">
            <a:extLst>
              <a:ext uri="{FF2B5EF4-FFF2-40B4-BE49-F238E27FC236}">
                <a16:creationId xmlns:a16="http://schemas.microsoft.com/office/drawing/2014/main" xmlns="" id="{9FE77012-E4D2-40B4-B9B8-CA772872C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690867"/>
              </p:ext>
            </p:extLst>
          </p:nvPr>
        </p:nvGraphicFramePr>
        <p:xfrm>
          <a:off x="1303550" y="2455667"/>
          <a:ext cx="6552725" cy="1426464"/>
        </p:xfrm>
        <a:graphic>
          <a:graphicData uri="http://schemas.openxmlformats.org/drawingml/2006/table">
            <a:tbl>
              <a:tblPr/>
              <a:tblGrid>
                <a:gridCol w="7214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79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79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62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791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959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791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3214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"/>
                          <a:ea typeface="楷体" panose="02010609060101010101" pitchFamily="49" charset="-122"/>
                        </a:rPr>
                        <a:t>鸡</a:t>
                      </a:r>
                    </a:p>
                  </a:txBody>
                  <a:tcPr marL="51431" marR="51431" marT="0" marB="0" horzOverflow="overflow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14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"/>
                          <a:ea typeface="楷体" panose="02010609060101010101" pitchFamily="49" charset="-122"/>
                        </a:rPr>
                        <a:t>兔</a:t>
                      </a:r>
                    </a:p>
                  </a:txBody>
                  <a:tcPr marL="51431" marR="51431" marT="0" marB="0" horzOverflow="overflow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14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cript"/>
                          <a:ea typeface="楷体" panose="02010609060101010101" pitchFamily="49" charset="-122"/>
                        </a:rPr>
                        <a:t>脚</a:t>
                      </a:r>
                    </a:p>
                  </a:txBody>
                  <a:tcPr marL="51431" marR="51431" marT="0" marB="0" horzOverflow="overflow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1C1C1C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cript"/>
                        <a:ea typeface="楷体" panose="02010609060101010101" pitchFamily="49" charset="-122"/>
                      </a:endParaRPr>
                    </a:p>
                  </a:txBody>
                  <a:tcPr marL="51431" marR="51431" marT="0" marB="0" horzOverflow="overflow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A924A91A-D49A-44F2-8F02-6BA6F788E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574" y="4016478"/>
            <a:ext cx="3423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400"/>
            </a:lvl1pPr>
          </a:lstStyle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所以有</a:t>
            </a:r>
            <a:r>
              <a:rPr lang="en-US" altLang="zh-CN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只鸡，</a:t>
            </a:r>
            <a:r>
              <a:rPr lang="en-US" altLang="zh-CN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只兔。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DCA33D62-A03B-41E8-B3BD-F4524947553A}"/>
              </a:ext>
            </a:extLst>
          </p:cNvPr>
          <p:cNvSpPr/>
          <p:nvPr/>
        </p:nvSpPr>
        <p:spPr>
          <a:xfrm>
            <a:off x="2171821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6DA5D1A-0D93-44C1-AE4F-50BC0D03183A}"/>
              </a:ext>
            </a:extLst>
          </p:cNvPr>
          <p:cNvSpPr/>
          <p:nvPr/>
        </p:nvSpPr>
        <p:spPr>
          <a:xfrm>
            <a:off x="2171821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C5BE5AA4-6531-4B7C-9BD5-7B27B1B98AD5}"/>
              </a:ext>
            </a:extLst>
          </p:cNvPr>
          <p:cNvSpPr/>
          <p:nvPr/>
        </p:nvSpPr>
        <p:spPr>
          <a:xfrm>
            <a:off x="2081065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4AFB5AA8-AF21-43D7-85B9-5CAC8CC4C046}"/>
              </a:ext>
            </a:extLst>
          </p:cNvPr>
          <p:cNvSpPr/>
          <p:nvPr/>
        </p:nvSpPr>
        <p:spPr>
          <a:xfrm>
            <a:off x="2821672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59F2DD73-7762-494D-B4FD-B5E88A136CD7}"/>
              </a:ext>
            </a:extLst>
          </p:cNvPr>
          <p:cNvSpPr/>
          <p:nvPr/>
        </p:nvSpPr>
        <p:spPr>
          <a:xfrm>
            <a:off x="2827209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CBF0124D-5AC0-45A5-BAEC-13F42A4E1961}"/>
              </a:ext>
            </a:extLst>
          </p:cNvPr>
          <p:cNvSpPr/>
          <p:nvPr/>
        </p:nvSpPr>
        <p:spPr>
          <a:xfrm>
            <a:off x="2742785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A0A84250-B8A3-49B1-B383-BCCFA1F2A957}"/>
              </a:ext>
            </a:extLst>
          </p:cNvPr>
          <p:cNvSpPr/>
          <p:nvPr/>
        </p:nvSpPr>
        <p:spPr>
          <a:xfrm>
            <a:off x="3487400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6814DE25-A8BA-43C3-9465-1DB6EED8807D}"/>
              </a:ext>
            </a:extLst>
          </p:cNvPr>
          <p:cNvSpPr/>
          <p:nvPr/>
        </p:nvSpPr>
        <p:spPr>
          <a:xfrm>
            <a:off x="3487522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1E744DF5-AF06-4C2B-A5CD-EAC3033ABA12}"/>
              </a:ext>
            </a:extLst>
          </p:cNvPr>
          <p:cNvSpPr/>
          <p:nvPr/>
        </p:nvSpPr>
        <p:spPr>
          <a:xfrm>
            <a:off x="3396413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A0E5DA51-C058-4F1C-899E-2CCAB18575DE}"/>
              </a:ext>
            </a:extLst>
          </p:cNvPr>
          <p:cNvSpPr/>
          <p:nvPr/>
        </p:nvSpPr>
        <p:spPr>
          <a:xfrm>
            <a:off x="4136944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315CAB5-56F7-481D-AC59-2508A7F61390}"/>
              </a:ext>
            </a:extLst>
          </p:cNvPr>
          <p:cNvSpPr/>
          <p:nvPr/>
        </p:nvSpPr>
        <p:spPr>
          <a:xfrm>
            <a:off x="4123559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B8CDA0D4-EA51-4958-871B-C39231DD05EC}"/>
              </a:ext>
            </a:extLst>
          </p:cNvPr>
          <p:cNvSpPr/>
          <p:nvPr/>
        </p:nvSpPr>
        <p:spPr>
          <a:xfrm>
            <a:off x="4050041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AEA69630-29BD-4A58-9C11-EAEE9B0C5A9E}"/>
              </a:ext>
            </a:extLst>
          </p:cNvPr>
          <p:cNvSpPr/>
          <p:nvPr/>
        </p:nvSpPr>
        <p:spPr>
          <a:xfrm>
            <a:off x="4770304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DB1AFAB3-B6C0-4044-9BEA-6D484C56F5C6}"/>
              </a:ext>
            </a:extLst>
          </p:cNvPr>
          <p:cNvSpPr/>
          <p:nvPr/>
        </p:nvSpPr>
        <p:spPr>
          <a:xfrm>
            <a:off x="4759596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B159632C-E7BD-4DFD-AF7F-B98D5F0E7E4D}"/>
              </a:ext>
            </a:extLst>
          </p:cNvPr>
          <p:cNvSpPr/>
          <p:nvPr/>
        </p:nvSpPr>
        <p:spPr>
          <a:xfrm>
            <a:off x="4695577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64B75BA-D648-41A5-B9B6-CA6F29DAF682}"/>
              </a:ext>
            </a:extLst>
          </p:cNvPr>
          <p:cNvSpPr/>
          <p:nvPr/>
        </p:nvSpPr>
        <p:spPr>
          <a:xfrm>
            <a:off x="5403664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F40C9CE-3029-476A-BE9F-2C4A7FCC564A}"/>
              </a:ext>
            </a:extLst>
          </p:cNvPr>
          <p:cNvSpPr/>
          <p:nvPr/>
        </p:nvSpPr>
        <p:spPr>
          <a:xfrm>
            <a:off x="5411817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2CA8AF5D-71AC-493E-8452-BA6C9BE9F3F9}"/>
              </a:ext>
            </a:extLst>
          </p:cNvPr>
          <p:cNvSpPr/>
          <p:nvPr/>
        </p:nvSpPr>
        <p:spPr>
          <a:xfrm>
            <a:off x="5333021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64008764-308A-474B-A60F-EFE6C9F6E6A0}"/>
              </a:ext>
            </a:extLst>
          </p:cNvPr>
          <p:cNvSpPr/>
          <p:nvPr/>
        </p:nvSpPr>
        <p:spPr>
          <a:xfrm>
            <a:off x="6061300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528ABA7E-5D55-4B80-BB06-19C702AB830A}"/>
              </a:ext>
            </a:extLst>
          </p:cNvPr>
          <p:cNvSpPr/>
          <p:nvPr/>
        </p:nvSpPr>
        <p:spPr>
          <a:xfrm>
            <a:off x="6055946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5C7588E0-640B-449E-B2B9-7E40B7DEF41A}"/>
              </a:ext>
            </a:extLst>
          </p:cNvPr>
          <p:cNvSpPr/>
          <p:nvPr/>
        </p:nvSpPr>
        <p:spPr>
          <a:xfrm>
            <a:off x="5986649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9DA6A922-C80D-4529-9C40-74B4522EF4E3}"/>
              </a:ext>
            </a:extLst>
          </p:cNvPr>
          <p:cNvSpPr/>
          <p:nvPr/>
        </p:nvSpPr>
        <p:spPr>
          <a:xfrm>
            <a:off x="6718936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F8D81EAD-D31B-46F5-88CC-F6374531B225}"/>
              </a:ext>
            </a:extLst>
          </p:cNvPr>
          <p:cNvSpPr/>
          <p:nvPr/>
        </p:nvSpPr>
        <p:spPr>
          <a:xfrm>
            <a:off x="6716259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1DC377F0-FDC5-42BC-B0C7-4B0A7B2444CB}"/>
              </a:ext>
            </a:extLst>
          </p:cNvPr>
          <p:cNvSpPr/>
          <p:nvPr/>
        </p:nvSpPr>
        <p:spPr>
          <a:xfrm>
            <a:off x="6632185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F72FA535-4743-4F81-895F-B6ABF80BBDDA}"/>
              </a:ext>
            </a:extLst>
          </p:cNvPr>
          <p:cNvSpPr/>
          <p:nvPr/>
        </p:nvSpPr>
        <p:spPr>
          <a:xfrm>
            <a:off x="7376570" y="2417052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82B7CA1B-03A9-4D98-9595-71D341A96C59}"/>
              </a:ext>
            </a:extLst>
          </p:cNvPr>
          <p:cNvSpPr/>
          <p:nvPr/>
        </p:nvSpPr>
        <p:spPr>
          <a:xfrm>
            <a:off x="7376570" y="2904928"/>
            <a:ext cx="34015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BD0FAADA-2F35-46B0-AC42-F85CE3DEF74A}"/>
              </a:ext>
            </a:extLst>
          </p:cNvPr>
          <p:cNvSpPr/>
          <p:nvPr/>
        </p:nvSpPr>
        <p:spPr>
          <a:xfrm>
            <a:off x="7285814" y="3379827"/>
            <a:ext cx="49564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endParaRPr lang="zh-CN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645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51873" y="670991"/>
            <a:ext cx="5165517" cy="500137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zh-CN" sz="2800" b="1" dirty="0">
                <a:latin typeface="宋体" pitchFamily="2" charset="-122"/>
                <a:ea typeface="宋体" pitchFamily="2" charset="-122"/>
              </a:rPr>
              <a:t>这节课你们都学会了哪些知识？</a:t>
            </a:r>
            <a:endParaRPr lang="zh-CN" altLang="en-US" sz="28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73" y="1198440"/>
            <a:ext cx="4349316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 smtClean="0">
                <a:latin typeface="楷体" panose="02010609060101010101" pitchFamily="49" charset="-122"/>
              </a:rPr>
              <a:t>解决鸡兔同笼问题的方法</a:t>
            </a:r>
            <a:r>
              <a:rPr lang="en-US" altLang="zh-CN" sz="2800" dirty="0" smtClean="0">
                <a:latin typeface="楷体" panose="02010609060101010101" pitchFamily="49" charset="-122"/>
              </a:rPr>
              <a:t>:</a:t>
            </a:r>
            <a:endParaRPr lang="zh-CN" altLang="en-US" sz="2800" dirty="0">
              <a:latin typeface="楷体" panose="02010609060101010101" pitchFamily="49" charset="-122"/>
            </a:endParaRPr>
          </a:p>
        </p:txBody>
      </p:sp>
      <p:sp>
        <p:nvSpPr>
          <p:cNvPr id="5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73" y="1754967"/>
            <a:ext cx="1455699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 smtClean="0">
                <a:solidFill>
                  <a:srgbClr val="00B0F0"/>
                </a:solidFill>
                <a:latin typeface="楷体" panose="02010609060101010101" pitchFamily="49" charset="-122"/>
              </a:rPr>
              <a:t>假设法</a:t>
            </a:r>
            <a:endParaRPr lang="zh-CN" altLang="en-US" sz="2800" dirty="0">
              <a:solidFill>
                <a:srgbClr val="00B0F0"/>
              </a:solidFill>
              <a:latin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D463D600-42C3-4206-8F47-5025ADE1CBDA}"/>
              </a:ext>
            </a:extLst>
          </p:cNvPr>
          <p:cNvSpPr txBox="1"/>
          <p:nvPr/>
        </p:nvSpPr>
        <p:spPr>
          <a:xfrm>
            <a:off x="3229849" y="2417908"/>
            <a:ext cx="3633983" cy="2272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26-8×2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4-2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=(26-16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÷2</a:t>
            </a:r>
          </a:p>
          <a:p>
            <a:pPr>
              <a:lnSpc>
                <a:spcPts val="34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=10÷2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=5(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鸡的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数量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8-5=3(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063155" y="2484859"/>
            <a:ext cx="813617" cy="359603"/>
          </a:xfrm>
          <a:prstGeom prst="roundRect">
            <a:avLst/>
          </a:prstGeom>
          <a:noFill/>
          <a:ln w="19050"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1844738" y="1912813"/>
            <a:ext cx="3490075" cy="390165"/>
          </a:xfrm>
          <a:prstGeom prst="wedgeRoundRectCallout">
            <a:avLst>
              <a:gd name="adj1" fmla="val 31672"/>
              <a:gd name="adj2" fmla="val 99763"/>
              <a:gd name="adj3" fmla="val 16667"/>
            </a:avLst>
          </a:prstGeom>
          <a:noFill/>
          <a:ln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假设全是鸡</a:t>
            </a:r>
            <a:r>
              <a:rPr lang="en-US" altLang="zh-CN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鸡的总脚数</a:t>
            </a:r>
            <a:endParaRPr lang="zh-CN" altLang="en-US" sz="2400" b="1" dirty="0">
              <a:solidFill>
                <a:srgbClr val="2007B7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536973" y="2919536"/>
            <a:ext cx="1003812" cy="359603"/>
          </a:xfrm>
          <a:prstGeom prst="roundRect">
            <a:avLst/>
          </a:prstGeom>
          <a:noFill/>
          <a:ln w="19050"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744304" y="2717201"/>
            <a:ext cx="2407170" cy="762005"/>
          </a:xfrm>
          <a:prstGeom prst="wedgeRoundRectCallout">
            <a:avLst>
              <a:gd name="adj1" fmla="val 66561"/>
              <a:gd name="adj2" fmla="val -8322"/>
              <a:gd name="adj3" fmla="val 16667"/>
            </a:avLst>
          </a:prstGeom>
          <a:noFill/>
          <a:ln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鸡的总脚数与实际相差的脚数</a:t>
            </a:r>
            <a:endParaRPr lang="zh-CN" altLang="en-US" sz="2400" b="1" dirty="0">
              <a:solidFill>
                <a:srgbClr val="2007B7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463493" y="2484858"/>
            <a:ext cx="813617" cy="359603"/>
          </a:xfrm>
          <a:prstGeom prst="roundRect">
            <a:avLst/>
          </a:prstGeom>
          <a:noFill/>
          <a:ln w="19050"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5617390" y="1912812"/>
            <a:ext cx="3146284" cy="390165"/>
          </a:xfrm>
          <a:prstGeom prst="wedgeRoundRectCallout">
            <a:avLst>
              <a:gd name="adj1" fmla="val -32131"/>
              <a:gd name="adj2" fmla="val 94396"/>
              <a:gd name="adj3" fmla="val 16667"/>
            </a:avLst>
          </a:prstGeom>
          <a:noFill/>
          <a:ln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每只兔子少算了</a:t>
            </a:r>
            <a:r>
              <a:rPr lang="en-US" altLang="zh-CN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只脚</a:t>
            </a:r>
            <a:endParaRPr lang="zh-CN" altLang="en-US" sz="2400" b="1" dirty="0">
              <a:solidFill>
                <a:srgbClr val="2007B7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66152" y="3779402"/>
            <a:ext cx="1003812" cy="359603"/>
          </a:xfrm>
          <a:prstGeom prst="roundRect">
            <a:avLst/>
          </a:prstGeom>
          <a:noFill/>
          <a:ln w="19050"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标注 14"/>
          <p:cNvSpPr/>
          <p:nvPr/>
        </p:nvSpPr>
        <p:spPr>
          <a:xfrm>
            <a:off x="1310910" y="3759641"/>
            <a:ext cx="1800788" cy="446776"/>
          </a:xfrm>
          <a:prstGeom prst="wedgeRoundRectCallout">
            <a:avLst>
              <a:gd name="adj1" fmla="val 66561"/>
              <a:gd name="adj2" fmla="val -8322"/>
              <a:gd name="adj3" fmla="val 16667"/>
            </a:avLst>
          </a:prstGeom>
          <a:noFill/>
          <a:ln>
            <a:solidFill>
              <a:srgbClr val="200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 smtClean="0">
                <a:solidFill>
                  <a:srgbClr val="2007B7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兔子的只数</a:t>
            </a:r>
            <a:endParaRPr lang="zh-CN" altLang="en-US" sz="2400" b="1" dirty="0">
              <a:solidFill>
                <a:srgbClr val="2007B7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878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51873" y="646277"/>
            <a:ext cx="5165517" cy="500137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zh-CN" sz="2800" b="1" dirty="0">
                <a:latin typeface="宋体" pitchFamily="2" charset="-122"/>
                <a:ea typeface="宋体" pitchFamily="2" charset="-122"/>
              </a:rPr>
              <a:t>这节课你们都学会了哪些知识？</a:t>
            </a:r>
            <a:endParaRPr lang="zh-CN" altLang="en-US" sz="28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xmlns="" id="{DC41DDBF-B5E4-4601-86A6-6FA93189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73" y="1173726"/>
            <a:ext cx="4349316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  <a:lvl2pPr marL="742950" indent="-285750">
              <a:spcBef>
                <a:spcPct val="15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15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15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15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 smtClean="0">
                <a:latin typeface="楷体" panose="02010609060101010101" pitchFamily="49" charset="-122"/>
              </a:rPr>
              <a:t>解决鸡兔同笼问题的方法</a:t>
            </a:r>
            <a:r>
              <a:rPr lang="en-US" altLang="zh-CN" sz="2800" dirty="0" smtClean="0">
                <a:latin typeface="楷体" panose="02010609060101010101" pitchFamily="49" charset="-122"/>
              </a:rPr>
              <a:t>:</a:t>
            </a:r>
            <a:endParaRPr lang="zh-CN" altLang="en-US" sz="2800" dirty="0">
              <a:latin typeface="楷体" panose="02010609060101010101" pitchFamily="49" charset="-122"/>
            </a:endParaRPr>
          </a:p>
        </p:txBody>
      </p:sp>
      <p:sp>
        <p:nvSpPr>
          <p:cNvPr id="8" name="文本框 27">
            <a:extLst>
              <a:ext uri="{FF2B5EF4-FFF2-40B4-BE49-F238E27FC236}">
                <a16:creationId xmlns:a16="http://schemas.microsoft.com/office/drawing/2014/main" xmlns="" id="{C362AC61-B0FD-4B41-BA2F-51F9B440F44E}"/>
              </a:ext>
            </a:extLst>
          </p:cNvPr>
          <p:cNvSpPr txBox="1"/>
          <p:nvPr/>
        </p:nvSpPr>
        <p:spPr>
          <a:xfrm>
            <a:off x="678449" y="1733270"/>
            <a:ext cx="740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FF0000"/>
                </a:solidFill>
                <a:latin typeface="Script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抬脚法</a:t>
            </a:r>
            <a:r>
              <a:rPr lang="zh-CN" altLang="en-US" baseline="-25000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—-</a:t>
            </a:r>
            <a:r>
              <a:rPr lang="en-US" altLang="zh-CN" baseline="-25000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 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鸡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</a:rPr>
              <a:t>抬起一只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脚</a:t>
            </a:r>
            <a:r>
              <a:rPr lang="en-US" altLang="zh-CN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,</a:t>
            </a:r>
            <a:r>
              <a:rPr lang="zh-CN" altLang="en-US" dirty="0" smtClean="0">
                <a:solidFill>
                  <a:srgbClr val="00B050"/>
                </a:solidFill>
                <a:latin typeface="楷体" panose="02010609060101010101" pitchFamily="49" charset="-122"/>
              </a:rPr>
              <a:t>兔子抬起两只脚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</a:rPr>
              <a:t>。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A2DF4066-A315-464F-A176-1153A41D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61" y="2213405"/>
            <a:ext cx="8045997" cy="1733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1C1C1C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）假如让鸡抬起一只脚，兔子抬起两只脚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</a:t>
            </a:r>
            <a:endParaRPr lang="en-US" altLang="zh-CN" sz="24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还有 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26÷2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13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只脚。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脚的总数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头的总数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兔子的只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数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，有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13-8=5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只兔子，</a:t>
            </a:r>
            <a:endParaRPr lang="en-US" altLang="zh-CN" sz="2400" b="1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   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有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8-5=3</a:t>
            </a:r>
            <a:r>
              <a:rPr lang="zh-CN" altLang="en-US" sz="2400" b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只鸡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178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48171" y="3294106"/>
            <a:ext cx="7247667" cy="1620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defTabSz="914400"/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2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/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defTabSz="914400"/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defTabSz="914400"/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defTabSz="914400"/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defTabSz="914400"/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2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defTabSz="914400"/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2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248707"/>
            <a:ext cx="9144000" cy="102512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914400"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96310" y="2323011"/>
            <a:ext cx="4103687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14400"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 defTabSz="914400"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572000" y="2323011"/>
            <a:ext cx="4103688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914400"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 defTabSz="914400"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2106" y="267184"/>
            <a:ext cx="5919787" cy="1764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250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模板网-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724</TotalTime>
  <Words>1805</Words>
  <Application>Microsoft Office PowerPoint</Application>
  <PresentationFormat>全屏显示(16:9)</PresentationFormat>
  <Paragraphs>227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第一PPT模板网-WWW.1PPT.COM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123</cp:lastModifiedBy>
  <cp:revision>133</cp:revision>
  <dcterms:created xsi:type="dcterms:W3CDTF">2019-09-02T08:53:16Z</dcterms:created>
  <dcterms:modified xsi:type="dcterms:W3CDTF">2024-02-07T00:32:42Z</dcterms:modified>
</cp:coreProperties>
</file>